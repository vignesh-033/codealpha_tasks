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6.svg" ContentType="image/svg+xml"/>
  <Override PartName="/ppt/media/image4.svg" ContentType="image/svg+xml"/>
  <Override PartName="/ppt/media/image5.svg" ContentType="image/svg+xml"/>
  <Override PartName="/ppt/media/image6.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9144000" cy="5143500"/>
  <p:notesSz cx="5143500" cy="9144000"/>
  <p:embeddedFontLst>
    <p:embeddedFont>
      <p:font typeface="Inter" panose="02000503000000020004" pitchFamily="34" charset="0"/>
      <p:regular r:id="rId17"/>
    </p:embeddedFont>
    <p:embeddedFont>
      <p:font typeface="Inter" panose="02000503000000020004" pitchFamily="34" charset="-122"/>
      <p:regular r:id="rId18"/>
    </p:embeddedFont>
    <p:embeddedFont>
      <p:font typeface="Inter" panose="02000503000000020004" pitchFamily="34" charset="-120"/>
      <p:regular r:id="rId19"/>
    </p:embeddedFont>
    <p:embeddedFont>
      <p:font typeface="Manrope" pitchFamily="34" charset="0"/>
      <p:regular r:id="rId20"/>
    </p:embeddedFont>
    <p:embeddedFont>
      <p:font typeface="Manrope" pitchFamily="34" charset="-122"/>
      <p:regular r:id="rId21"/>
    </p:embeddedFont>
    <p:embeddedFont>
      <p:font typeface="Manrope" pitchFamily="34" charset="-120"/>
      <p:regular r:id="rId22"/>
    </p:embeddedFont>
    <p:embeddedFont>
      <p:font typeface="Calibri" panose="020F0502020204030204" charset="0"/>
      <p:regular r:id="rId23"/>
      <p:bold r:id="rId24"/>
      <p:italic r:id="rId25"/>
      <p:boldItalic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font" Target="fonts/font10.fntdata"/><Relationship Id="rId25" Type="http://schemas.openxmlformats.org/officeDocument/2006/relationships/font" Target="fonts/font9.fntdata"/><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p:spPr>
      </p:sp>
      <p:sp>
        <p:nvSpPr>
          <p:cNvPr id="3" name="Shape 1"/>
          <p:cNvSpPr/>
          <p:nvPr/>
        </p:nvSpPr>
        <p:spPr>
          <a:xfrm>
            <a:off x="0" y="0"/>
            <a:ext cx="9144000" cy="51435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p:spPr>
      </p:sp>
      <p:sp>
        <p:nvSpPr>
          <p:cNvPr id="3" name="Shape 1"/>
          <p:cNvSpPr/>
          <p:nvPr/>
        </p:nvSpPr>
        <p:spPr>
          <a:xfrm>
            <a:off x="0" y="0"/>
            <a:ext cx="9144000" cy="51435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p:spPr>
      </p:sp>
      <p:sp>
        <p:nvSpPr>
          <p:cNvPr id="3" name="Shape 1"/>
          <p:cNvSpPr/>
          <p:nvPr/>
        </p:nvSpPr>
        <p:spPr>
          <a:xfrm>
            <a:off x="0" y="0"/>
            <a:ext cx="9144000" cy="51435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p:spPr>
      </p:sp>
      <p:sp>
        <p:nvSpPr>
          <p:cNvPr id="3" name="Shape 1"/>
          <p:cNvSpPr/>
          <p:nvPr/>
        </p:nvSpPr>
        <p:spPr>
          <a:xfrm>
            <a:off x="0" y="0"/>
            <a:ext cx="9144000" cy="51435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p:spPr>
      </p:sp>
      <p:sp>
        <p:nvSpPr>
          <p:cNvPr id="3" name="Shape 1"/>
          <p:cNvSpPr/>
          <p:nvPr/>
        </p:nvSpPr>
        <p:spPr>
          <a:xfrm>
            <a:off x="0" y="0"/>
            <a:ext cx="9144000" cy="51435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p:spPr>
      </p:sp>
      <p:sp>
        <p:nvSpPr>
          <p:cNvPr id="3" name="Shape 1"/>
          <p:cNvSpPr/>
          <p:nvPr/>
        </p:nvSpPr>
        <p:spPr>
          <a:xfrm>
            <a:off x="0" y="0"/>
            <a:ext cx="9144000" cy="51435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p:spPr>
      </p:sp>
      <p:sp>
        <p:nvSpPr>
          <p:cNvPr id="3" name="Shape 1"/>
          <p:cNvSpPr/>
          <p:nvPr/>
        </p:nvSpPr>
        <p:spPr>
          <a:xfrm>
            <a:off x="0" y="0"/>
            <a:ext cx="9144000" cy="51435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p:spPr>
      </p:sp>
      <p:sp>
        <p:nvSpPr>
          <p:cNvPr id="3" name="Shape 1"/>
          <p:cNvSpPr/>
          <p:nvPr/>
        </p:nvSpPr>
        <p:spPr>
          <a:xfrm>
            <a:off x="0" y="0"/>
            <a:ext cx="9144000" cy="51435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p:spPr>
      </p:sp>
      <p:sp>
        <p:nvSpPr>
          <p:cNvPr id="3" name="Shape 1"/>
          <p:cNvSpPr/>
          <p:nvPr/>
        </p:nvSpPr>
        <p:spPr>
          <a:xfrm>
            <a:off x="0" y="0"/>
            <a:ext cx="9144000" cy="51435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p:spPr>
      </p:sp>
      <p:sp>
        <p:nvSpPr>
          <p:cNvPr id="3" name="Shape 1"/>
          <p:cNvSpPr/>
          <p:nvPr/>
        </p:nvSpPr>
        <p:spPr>
          <a:xfrm>
            <a:off x="0" y="0"/>
            <a:ext cx="9144000" cy="51435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3.xml"/><Relationship Id="rId4" Type="http://schemas.openxmlformats.org/officeDocument/2006/relationships/image" Target="../media/image6.svg"/><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4.xml"/><Relationship Id="rId4" Type="http://schemas.openxmlformats.org/officeDocument/2006/relationships/image" Target="../media/image9.svg"/><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9" Type="http://schemas.openxmlformats.org/officeDocument/2006/relationships/image" Target="../media/image23.svg"/><Relationship Id="rId8" Type="http://schemas.openxmlformats.org/officeDocument/2006/relationships/image" Target="../media/image22.png"/><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3" Type="http://schemas.openxmlformats.org/officeDocument/2006/relationships/image" Target="../media/image17.svg"/><Relationship Id="rId2" Type="http://schemas.openxmlformats.org/officeDocument/2006/relationships/image" Target="../media/image3.png"/><Relationship Id="rId13" Type="http://schemas.openxmlformats.org/officeDocument/2006/relationships/notesSlide" Target="../notesSlides/notesSlide7.xml"/><Relationship Id="rId12" Type="http://schemas.openxmlformats.org/officeDocument/2006/relationships/slideLayout" Target="../slideLayouts/slideLayout8.xml"/><Relationship Id="rId11" Type="http://schemas.openxmlformats.org/officeDocument/2006/relationships/image" Target="../media/image25.svg"/><Relationship Id="rId10" Type="http://schemas.openxmlformats.org/officeDocument/2006/relationships/image" Target="../media/image24.png"/><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9.xml"/><Relationship Id="rId2" Type="http://schemas.openxmlformats.org/officeDocument/2006/relationships/image" Target="../media/image26.sv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image" Target="../media/image2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523280" y="2185690"/>
            <a:ext cx="4668366" cy="387548"/>
          </a:xfrm>
          <a:prstGeom prst="rect">
            <a:avLst/>
          </a:prstGeom>
          <a:noFill/>
        </p:spPr>
        <p:txBody>
          <a:bodyPr wrap="none" lIns="0" tIns="0" rIns="0" bIns="0" rtlCol="0" anchor="t"/>
          <a:lstStyle/>
          <a:p>
            <a:pPr marL="0" indent="0" algn="ctr">
              <a:lnSpc>
                <a:spcPct val="104000"/>
              </a:lnSpc>
              <a:buNone/>
            </a:pPr>
            <a:r>
              <a:rPr lang="en-US" sz="2400" dirty="0">
                <a:solidFill>
                  <a:srgbClr val="0C0D0F"/>
                </a:solidFill>
                <a:latin typeface="Inter" panose="02000503000000020004" pitchFamily="34" charset="0"/>
                <a:ea typeface="Inter" panose="02000503000000020004" pitchFamily="34" charset="-122"/>
                <a:cs typeface="Inter" panose="02000503000000020004" pitchFamily="34" charset="-120"/>
              </a:rPr>
              <a:t>Phishing Awareness Training</a:t>
            </a:r>
            <a:endParaRPr lang="en-US" sz="2400" dirty="0"/>
          </a:p>
        </p:txBody>
      </p:sp>
      <p:sp>
        <p:nvSpPr>
          <p:cNvPr id="4" name="Text 1"/>
          <p:cNvSpPr/>
          <p:nvPr/>
        </p:nvSpPr>
        <p:spPr>
          <a:xfrm>
            <a:off x="267519" y="2759273"/>
            <a:ext cx="5179963" cy="198462"/>
          </a:xfrm>
          <a:prstGeom prst="rect">
            <a:avLst/>
          </a:prstGeom>
          <a:noFill/>
        </p:spPr>
        <p:txBody>
          <a:bodyPr wrap="none" lIns="0" tIns="0" rIns="0" bIns="0" rtlCol="0" anchor="t"/>
          <a:lstStyle/>
          <a:p>
            <a:pPr marL="0" indent="0" algn="ctr">
              <a:lnSpc>
                <a:spcPct val="133000"/>
              </a:lnSpc>
              <a:buNone/>
            </a:pPr>
            <a:r>
              <a:rPr lang="en-US" sz="950" dirty="0">
                <a:solidFill>
                  <a:srgbClr val="55575A"/>
                </a:solidFill>
                <a:latin typeface="Manrope" pitchFamily="34" charset="0"/>
                <a:ea typeface="Manrope" pitchFamily="34" charset="-122"/>
                <a:cs typeface="Manrope" pitchFamily="34" charset="-120"/>
              </a:rPr>
              <a:t>Empowering you to identify and prevent cyber threats.</a:t>
            </a:r>
            <a:endParaRPr lang="en-US" sz="95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6119" y="1105495"/>
            <a:ext cx="651197" cy="233214"/>
          </a:xfrm>
          <a:prstGeom prst="roundRect">
            <a:avLst>
              <a:gd name="adj" fmla="val 38297"/>
            </a:avLst>
          </a:prstGeom>
          <a:solidFill>
            <a:srgbClr val="FFD7CC"/>
          </a:solidFill>
        </p:spPr>
      </p:sp>
      <p:sp>
        <p:nvSpPr>
          <p:cNvPr id="3" name="Text 1"/>
          <p:cNvSpPr/>
          <p:nvPr/>
        </p:nvSpPr>
        <p:spPr>
          <a:xfrm>
            <a:off x="570533" y="1142702"/>
            <a:ext cx="959569" cy="158800"/>
          </a:xfrm>
          <a:prstGeom prst="rect">
            <a:avLst/>
          </a:prstGeom>
          <a:noFill/>
        </p:spPr>
        <p:txBody>
          <a:bodyPr wrap="none" lIns="0" tIns="0" rIns="0" bIns="0" rtlCol="0" anchor="t"/>
          <a:lstStyle/>
          <a:p>
            <a:pPr marL="0" indent="0" algn="l">
              <a:lnSpc>
                <a:spcPct val="133000"/>
              </a:lnSpc>
              <a:buNone/>
            </a:pPr>
            <a:r>
              <a:rPr lang="en-US" sz="750" dirty="0">
                <a:solidFill>
                  <a:srgbClr val="55575A"/>
                </a:solidFill>
                <a:latin typeface="Manrope" pitchFamily="34" charset="0"/>
                <a:ea typeface="Manrope" pitchFamily="34" charset="-122"/>
                <a:cs typeface="Manrope" pitchFamily="34" charset="-120"/>
              </a:rPr>
              <a:t>OBJECTIVE</a:t>
            </a:r>
            <a:endParaRPr lang="en-US" sz="750" dirty="0"/>
          </a:p>
        </p:txBody>
      </p:sp>
      <p:sp>
        <p:nvSpPr>
          <p:cNvPr id="4" name="Text 2"/>
          <p:cNvSpPr/>
          <p:nvPr/>
        </p:nvSpPr>
        <p:spPr>
          <a:xfrm>
            <a:off x="496119" y="1388269"/>
            <a:ext cx="4859982" cy="310083"/>
          </a:xfrm>
          <a:prstGeom prst="rect">
            <a:avLst/>
          </a:prstGeom>
          <a:noFill/>
        </p:spPr>
        <p:txBody>
          <a:bodyPr wrap="none" lIns="0" tIns="0" rIns="0" bIns="0" rtlCol="0" anchor="t"/>
          <a:lstStyle/>
          <a:p>
            <a:pPr marL="0" indent="0" algn="l">
              <a:lnSpc>
                <a:spcPct val="104000"/>
              </a:lnSpc>
              <a:buNone/>
            </a:pPr>
            <a:r>
              <a:rPr lang="en-US" sz="1950" dirty="0">
                <a:solidFill>
                  <a:srgbClr val="0C0D0F"/>
                </a:solidFill>
                <a:latin typeface="Inter" panose="02000503000000020004" pitchFamily="34" charset="0"/>
                <a:ea typeface="Inter" panose="02000503000000020004" pitchFamily="34" charset="-122"/>
                <a:cs typeface="Inter" panose="02000503000000020004" pitchFamily="34" charset="-120"/>
              </a:rPr>
              <a:t>Safeguarding Our Digital Environment</a:t>
            </a:r>
            <a:endParaRPr lang="en-US" sz="1950" dirty="0"/>
          </a:p>
        </p:txBody>
      </p:sp>
      <p:sp>
        <p:nvSpPr>
          <p:cNvPr id="5" name="Text 3"/>
          <p:cNvSpPr/>
          <p:nvPr/>
        </p:nvSpPr>
        <p:spPr>
          <a:xfrm>
            <a:off x="496119" y="1884387"/>
            <a:ext cx="8151763" cy="595387"/>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 In today's interconnected world, understanding and defending against cyber threats is paramount. This training aims to equip all users with the essential knowledge and skills to navigate the digital landscape securely. Our primary objective is to cultivate a proactive defense against phishing attacks, a common and insidious form of cybercrime. </a:t>
            </a:r>
            <a:endParaRPr lang="en-US" sz="950" dirty="0"/>
          </a:p>
        </p:txBody>
      </p:sp>
      <p:sp>
        <p:nvSpPr>
          <p:cNvPr id="6" name="Shape 4"/>
          <p:cNvSpPr/>
          <p:nvPr/>
        </p:nvSpPr>
        <p:spPr>
          <a:xfrm>
            <a:off x="496119" y="2619301"/>
            <a:ext cx="2634555" cy="1418704"/>
          </a:xfrm>
          <a:prstGeom prst="roundRect">
            <a:avLst>
              <a:gd name="adj" fmla="val 7869"/>
            </a:avLst>
          </a:prstGeom>
          <a:solidFill>
            <a:srgbClr val="FFFFFF"/>
          </a:solidFill>
          <a:ln w="4763">
            <a:solidFill>
              <a:srgbClr val="FF7047"/>
            </a:solidFill>
            <a:prstDash val="solid"/>
          </a:ln>
        </p:spPr>
      </p:sp>
      <p:sp>
        <p:nvSpPr>
          <p:cNvPr id="7" name="Shape 5"/>
          <p:cNvSpPr/>
          <p:nvPr/>
        </p:nvSpPr>
        <p:spPr>
          <a:xfrm>
            <a:off x="624855" y="2748037"/>
            <a:ext cx="372070" cy="372070"/>
          </a:xfrm>
          <a:prstGeom prst="roundRect">
            <a:avLst>
              <a:gd name="adj" fmla="val 15358477"/>
            </a:avLst>
          </a:prstGeom>
          <a:solidFill>
            <a:srgbClr val="FF7047"/>
          </a:solidFill>
        </p:spPr>
      </p:sp>
      <p:pic>
        <p:nvPicPr>
          <p:cNvPr id="8"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7174" y="2850282"/>
            <a:ext cx="167432" cy="167432"/>
          </a:xfrm>
          <a:prstGeom prst="rect">
            <a:avLst/>
          </a:prstGeom>
        </p:spPr>
      </p:pic>
      <p:sp>
        <p:nvSpPr>
          <p:cNvPr id="9" name="Text 6"/>
          <p:cNvSpPr/>
          <p:nvPr/>
        </p:nvSpPr>
        <p:spPr>
          <a:xfrm>
            <a:off x="624855" y="3244081"/>
            <a:ext cx="1550566" cy="193849"/>
          </a:xfrm>
          <a:prstGeom prst="rect">
            <a:avLst/>
          </a:prstGeom>
          <a:noFill/>
        </p:spPr>
        <p:txBody>
          <a:bodyPr wrap="none" lIns="0" tIns="0" rIns="0" bIns="0" rtlCol="0" anchor="t"/>
          <a:lstStyle/>
          <a:p>
            <a:pPr marL="0" indent="0" algn="l">
              <a:lnSpc>
                <a:spcPct val="104000"/>
              </a:lnSpc>
              <a:buNone/>
            </a:pPr>
            <a:r>
              <a:rPr lang="en-US" sz="1200" dirty="0">
                <a:solidFill>
                  <a:srgbClr val="55575A"/>
                </a:solidFill>
                <a:latin typeface="Inter" panose="02000503000000020004" pitchFamily="34" charset="0"/>
                <a:ea typeface="Inter" panose="02000503000000020004" pitchFamily="34" charset="-122"/>
                <a:cs typeface="Inter" panose="02000503000000020004" pitchFamily="34" charset="-120"/>
              </a:rPr>
              <a:t>Educate Users</a:t>
            </a:r>
            <a:endParaRPr lang="en-US" sz="1200" dirty="0"/>
          </a:p>
        </p:txBody>
      </p:sp>
      <p:sp>
        <p:nvSpPr>
          <p:cNvPr id="10" name="Text 7"/>
          <p:cNvSpPr/>
          <p:nvPr/>
        </p:nvSpPr>
        <p:spPr>
          <a:xfrm>
            <a:off x="624855" y="3512344"/>
            <a:ext cx="2377083" cy="396925"/>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Understand the mechanics and motives behind phishing attacks.</a:t>
            </a:r>
            <a:endParaRPr lang="en-US" sz="950" dirty="0"/>
          </a:p>
        </p:txBody>
      </p:sp>
      <p:sp>
        <p:nvSpPr>
          <p:cNvPr id="11" name="Shape 8"/>
          <p:cNvSpPr/>
          <p:nvPr/>
        </p:nvSpPr>
        <p:spPr>
          <a:xfrm>
            <a:off x="3254648" y="2619301"/>
            <a:ext cx="2634630" cy="1418704"/>
          </a:xfrm>
          <a:prstGeom prst="roundRect">
            <a:avLst>
              <a:gd name="adj" fmla="val 7869"/>
            </a:avLst>
          </a:prstGeom>
          <a:solidFill>
            <a:srgbClr val="FFFFFF"/>
          </a:solidFill>
          <a:ln w="4763">
            <a:solidFill>
              <a:srgbClr val="FF7047"/>
            </a:solidFill>
            <a:prstDash val="solid"/>
          </a:ln>
        </p:spPr>
      </p:sp>
      <p:sp>
        <p:nvSpPr>
          <p:cNvPr id="12" name="Shape 9"/>
          <p:cNvSpPr/>
          <p:nvPr/>
        </p:nvSpPr>
        <p:spPr>
          <a:xfrm>
            <a:off x="3383384" y="2748037"/>
            <a:ext cx="372070" cy="372070"/>
          </a:xfrm>
          <a:prstGeom prst="roundRect">
            <a:avLst>
              <a:gd name="adj" fmla="val 15358477"/>
            </a:avLst>
          </a:prstGeom>
          <a:solidFill>
            <a:srgbClr val="FF7047"/>
          </a:solidFill>
        </p:spPr>
      </p:sp>
      <p:pic>
        <p:nvPicPr>
          <p:cNvPr id="13"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3485704" y="2850282"/>
            <a:ext cx="167432" cy="167432"/>
          </a:xfrm>
          <a:prstGeom prst="rect">
            <a:avLst/>
          </a:prstGeom>
        </p:spPr>
      </p:pic>
      <p:sp>
        <p:nvSpPr>
          <p:cNvPr id="14" name="Text 10"/>
          <p:cNvSpPr/>
          <p:nvPr/>
        </p:nvSpPr>
        <p:spPr>
          <a:xfrm>
            <a:off x="3383384" y="3244081"/>
            <a:ext cx="1550566" cy="193849"/>
          </a:xfrm>
          <a:prstGeom prst="rect">
            <a:avLst/>
          </a:prstGeom>
          <a:noFill/>
        </p:spPr>
        <p:txBody>
          <a:bodyPr wrap="none" lIns="0" tIns="0" rIns="0" bIns="0" rtlCol="0" anchor="t"/>
          <a:lstStyle/>
          <a:p>
            <a:pPr marL="0" indent="0" algn="l">
              <a:lnSpc>
                <a:spcPct val="104000"/>
              </a:lnSpc>
              <a:buNone/>
            </a:pPr>
            <a:r>
              <a:rPr lang="en-US" sz="1200" dirty="0">
                <a:solidFill>
                  <a:srgbClr val="55575A"/>
                </a:solidFill>
                <a:latin typeface="Inter" panose="02000503000000020004" pitchFamily="34" charset="0"/>
                <a:ea typeface="Inter" panose="02000503000000020004" pitchFamily="34" charset="-122"/>
                <a:cs typeface="Inter" panose="02000503000000020004" pitchFamily="34" charset="-120"/>
              </a:rPr>
              <a:t>Identify Threats</a:t>
            </a:r>
            <a:endParaRPr lang="en-US" sz="1200" dirty="0"/>
          </a:p>
        </p:txBody>
      </p:sp>
      <p:sp>
        <p:nvSpPr>
          <p:cNvPr id="15" name="Text 11"/>
          <p:cNvSpPr/>
          <p:nvPr/>
        </p:nvSpPr>
        <p:spPr>
          <a:xfrm>
            <a:off x="3383384" y="3512344"/>
            <a:ext cx="2377157" cy="396925"/>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Learn to recognize the tell-tale signs of malicious attempts.</a:t>
            </a:r>
            <a:endParaRPr lang="en-US" sz="950" dirty="0"/>
          </a:p>
        </p:txBody>
      </p:sp>
      <p:sp>
        <p:nvSpPr>
          <p:cNvPr id="16" name="Shape 12"/>
          <p:cNvSpPr/>
          <p:nvPr/>
        </p:nvSpPr>
        <p:spPr>
          <a:xfrm>
            <a:off x="6013252" y="2619301"/>
            <a:ext cx="2634555" cy="1418704"/>
          </a:xfrm>
          <a:prstGeom prst="roundRect">
            <a:avLst>
              <a:gd name="adj" fmla="val 7869"/>
            </a:avLst>
          </a:prstGeom>
          <a:solidFill>
            <a:srgbClr val="FFFFFF"/>
          </a:solidFill>
          <a:ln w="4763">
            <a:solidFill>
              <a:srgbClr val="FF7047"/>
            </a:solidFill>
            <a:prstDash val="solid"/>
          </a:ln>
        </p:spPr>
      </p:sp>
      <p:sp>
        <p:nvSpPr>
          <p:cNvPr id="17" name="Shape 13"/>
          <p:cNvSpPr/>
          <p:nvPr/>
        </p:nvSpPr>
        <p:spPr>
          <a:xfrm>
            <a:off x="6141988" y="2748037"/>
            <a:ext cx="372070" cy="372070"/>
          </a:xfrm>
          <a:prstGeom prst="roundRect">
            <a:avLst>
              <a:gd name="adj" fmla="val 15358477"/>
            </a:avLst>
          </a:prstGeom>
          <a:solidFill>
            <a:srgbClr val="FF7047"/>
          </a:solidFill>
        </p:spPr>
      </p:sp>
      <p:pic>
        <p:nvPicPr>
          <p:cNvPr id="18"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6244307" y="2850282"/>
            <a:ext cx="167432" cy="167432"/>
          </a:xfrm>
          <a:prstGeom prst="rect">
            <a:avLst/>
          </a:prstGeom>
        </p:spPr>
      </p:pic>
      <p:sp>
        <p:nvSpPr>
          <p:cNvPr id="19" name="Text 14"/>
          <p:cNvSpPr/>
          <p:nvPr/>
        </p:nvSpPr>
        <p:spPr>
          <a:xfrm>
            <a:off x="6141988" y="3244081"/>
            <a:ext cx="1550566" cy="193849"/>
          </a:xfrm>
          <a:prstGeom prst="rect">
            <a:avLst/>
          </a:prstGeom>
          <a:noFill/>
        </p:spPr>
        <p:txBody>
          <a:bodyPr wrap="none" lIns="0" tIns="0" rIns="0" bIns="0" rtlCol="0" anchor="t"/>
          <a:lstStyle/>
          <a:p>
            <a:pPr marL="0" indent="0" algn="l">
              <a:lnSpc>
                <a:spcPct val="104000"/>
              </a:lnSpc>
              <a:buNone/>
            </a:pPr>
            <a:r>
              <a:rPr lang="en-US" sz="1200" dirty="0">
                <a:solidFill>
                  <a:srgbClr val="55575A"/>
                </a:solidFill>
                <a:latin typeface="Inter" panose="02000503000000020004" pitchFamily="34" charset="0"/>
                <a:ea typeface="Inter" panose="02000503000000020004" pitchFamily="34" charset="-122"/>
                <a:cs typeface="Inter" panose="02000503000000020004" pitchFamily="34" charset="-120"/>
              </a:rPr>
              <a:t>Stay Safe</a:t>
            </a:r>
            <a:endParaRPr lang="en-US" sz="1200" dirty="0"/>
          </a:p>
        </p:txBody>
      </p:sp>
      <p:sp>
        <p:nvSpPr>
          <p:cNvPr id="20" name="Text 15"/>
          <p:cNvSpPr/>
          <p:nvPr/>
        </p:nvSpPr>
        <p:spPr>
          <a:xfrm>
            <a:off x="6141988" y="3512344"/>
            <a:ext cx="2377083" cy="396925"/>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Implement best practices to protect sensitive information and systems.</a:t>
            </a:r>
            <a:endParaRPr lang="en-US" sz="950" dirty="0"/>
          </a:p>
        </p:txBody>
      </p:sp>
      <p:sp>
        <p:nvSpPr>
          <p:cNvPr id="22" name="Text Box 21"/>
          <p:cNvSpPr txBox="1"/>
          <p:nvPr/>
        </p:nvSpPr>
        <p:spPr>
          <a:xfrm flipV="1">
            <a:off x="9144000" y="5267325"/>
            <a:ext cx="2001520" cy="76200"/>
          </a:xfrm>
          <a:prstGeom prst="rect">
            <a:avLst/>
          </a:prstGeom>
          <a:noFill/>
        </p:spPr>
        <p:txBody>
          <a:bodyPr wrap="square" rtlCol="0">
            <a:noAutofit/>
          </a:bodyPr>
          <a:p>
            <a:endParaRPr lang="en-US"/>
          </a:p>
        </p:txBody>
      </p:sp>
      <p:sp>
        <p:nvSpPr>
          <p:cNvPr id="23" name="Rectangle 22"/>
          <p:cNvSpPr/>
          <p:nvPr/>
        </p:nvSpPr>
        <p:spPr>
          <a:xfrm>
            <a:off x="7931785" y="4747895"/>
            <a:ext cx="1212215" cy="39624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5715000" y="0"/>
            <a:ext cx="3429000" cy="5143500"/>
          </a:xfrm>
          <a:prstGeom prst="rect">
            <a:avLst/>
          </a:prstGeom>
        </p:spPr>
      </p:pic>
      <p:sp>
        <p:nvSpPr>
          <p:cNvPr id="5" name="Text 2"/>
          <p:cNvSpPr/>
          <p:nvPr/>
        </p:nvSpPr>
        <p:spPr>
          <a:xfrm>
            <a:off x="465162" y="729779"/>
            <a:ext cx="3257996" cy="290736"/>
          </a:xfrm>
          <a:prstGeom prst="rect">
            <a:avLst/>
          </a:prstGeom>
          <a:noFill/>
        </p:spPr>
        <p:txBody>
          <a:bodyPr wrap="none" lIns="0" tIns="0" rIns="0" bIns="0" rtlCol="0" anchor="t"/>
          <a:lstStyle/>
          <a:p>
            <a:pPr marL="0" indent="0" algn="l">
              <a:lnSpc>
                <a:spcPct val="104000"/>
              </a:lnSpc>
              <a:buNone/>
            </a:pPr>
            <a:r>
              <a:rPr lang="en-US" sz="1800" dirty="0">
                <a:solidFill>
                  <a:srgbClr val="0C0D0F"/>
                </a:solidFill>
                <a:latin typeface="Inter" panose="02000503000000020004" pitchFamily="34" charset="0"/>
                <a:ea typeface="Inter" panose="02000503000000020004" pitchFamily="34" charset="-122"/>
                <a:cs typeface="Inter" panose="02000503000000020004" pitchFamily="34" charset="-120"/>
              </a:rPr>
              <a:t>What Exactly is Phishing?</a:t>
            </a:r>
            <a:endParaRPr lang="en-US" sz="1800" dirty="0"/>
          </a:p>
        </p:txBody>
      </p:sp>
      <p:sp>
        <p:nvSpPr>
          <p:cNvPr id="6" name="Text 3"/>
          <p:cNvSpPr/>
          <p:nvPr/>
        </p:nvSpPr>
        <p:spPr>
          <a:xfrm>
            <a:off x="465162" y="1184002"/>
            <a:ext cx="4784675" cy="901154"/>
          </a:xfrm>
          <a:prstGeom prst="rect">
            <a:avLst/>
          </a:prstGeom>
          <a:noFill/>
        </p:spPr>
        <p:txBody>
          <a:bodyPr wrap="square" lIns="0" tIns="0" rIns="0" bIns="0" rtlCol="0" anchor="t">
            <a:normAutofit/>
          </a:bodyPr>
          <a:lstStyle/>
          <a:p>
            <a:pPr marL="0" indent="0" algn="l">
              <a:lnSpc>
                <a:spcPct val="129000"/>
              </a:lnSpc>
              <a:buNone/>
            </a:pPr>
            <a:r>
              <a:rPr lang="en-US" sz="900" dirty="0">
                <a:solidFill>
                  <a:srgbClr val="55575A"/>
                </a:solidFill>
                <a:latin typeface="Manrope" pitchFamily="34" charset="0"/>
                <a:ea typeface="Manrope" pitchFamily="34" charset="-122"/>
                <a:cs typeface="Manrope" pitchFamily="34" charset="-120"/>
              </a:rPr>
              <a:t> Phishing is a deceptive cyber attack designed to trick individuals into compromising their security. Attackers masquerade as trustworthy entities to lure victims into revealing sensitive information, clicking on malicious links, or downloading harmful files. These attacks often mimic legitimate communications from banks, well-known companies, or even social media platforms, making them difficult to detect without proper awareness. </a:t>
            </a:r>
            <a:endParaRPr lang="en-US" sz="900" dirty="0"/>
          </a:p>
        </p:txBody>
      </p:sp>
      <p:pic>
        <p:nvPicPr>
          <p:cNvPr id="7"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0875" y="2207791"/>
            <a:ext cx="4798963" cy="868561"/>
          </a:xfrm>
          <a:prstGeom prst="rect">
            <a:avLst/>
          </a:prstGeom>
        </p:spPr>
      </p:pic>
      <p:sp>
        <p:nvSpPr>
          <p:cNvPr id="8" name="Text 4"/>
          <p:cNvSpPr/>
          <p:nvPr/>
        </p:nvSpPr>
        <p:spPr>
          <a:xfrm>
            <a:off x="638547" y="2338313"/>
            <a:ext cx="1545952" cy="181645"/>
          </a:xfrm>
          <a:prstGeom prst="rect">
            <a:avLst/>
          </a:prstGeom>
          <a:noFill/>
        </p:spPr>
        <p:txBody>
          <a:bodyPr wrap="none" lIns="0" tIns="0" rIns="0" bIns="0" rtlCol="0" anchor="t"/>
          <a:lstStyle/>
          <a:p>
            <a:pPr marL="0" indent="0" algn="l">
              <a:lnSpc>
                <a:spcPct val="104000"/>
              </a:lnSpc>
              <a:buNone/>
            </a:pPr>
            <a:r>
              <a:rPr lang="en-US" sz="1100" dirty="0">
                <a:solidFill>
                  <a:srgbClr val="55575A"/>
                </a:solidFill>
                <a:latin typeface="Inter" panose="02000503000000020004" pitchFamily="34" charset="0"/>
                <a:ea typeface="Inter" panose="02000503000000020004" pitchFamily="34" charset="-122"/>
                <a:cs typeface="Inter" panose="02000503000000020004" pitchFamily="34" charset="-120"/>
              </a:rPr>
              <a:t>Information Disclosure</a:t>
            </a:r>
            <a:endParaRPr lang="en-US" sz="1100" dirty="0"/>
          </a:p>
        </p:txBody>
      </p:sp>
      <p:sp>
        <p:nvSpPr>
          <p:cNvPr id="9" name="Text 5"/>
          <p:cNvSpPr/>
          <p:nvPr/>
        </p:nvSpPr>
        <p:spPr>
          <a:xfrm>
            <a:off x="638547" y="2585368"/>
            <a:ext cx="4480768" cy="360462"/>
          </a:xfrm>
          <a:prstGeom prst="rect">
            <a:avLst/>
          </a:prstGeom>
          <a:noFill/>
        </p:spPr>
        <p:txBody>
          <a:bodyPr wrap="square" lIns="0" tIns="0" rIns="0" bIns="0" rtlCol="0" anchor="t">
            <a:normAutofit/>
          </a:bodyPr>
          <a:lstStyle/>
          <a:p>
            <a:pPr marL="0" indent="0" algn="l">
              <a:lnSpc>
                <a:spcPct val="129000"/>
              </a:lnSpc>
              <a:buNone/>
            </a:pPr>
            <a:r>
              <a:rPr lang="en-US" sz="900" dirty="0">
                <a:solidFill>
                  <a:srgbClr val="55575A"/>
                </a:solidFill>
                <a:latin typeface="Manrope" pitchFamily="34" charset="0"/>
                <a:ea typeface="Manrope" pitchFamily="34" charset="-122"/>
                <a:cs typeface="Manrope" pitchFamily="34" charset="-120"/>
              </a:rPr>
              <a:t>Tricking users into revealing passwords, one-time passcodes (OTPs), or personal data.</a:t>
            </a:r>
            <a:endParaRPr lang="en-US" sz="900" dirty="0"/>
          </a:p>
        </p:txBody>
      </p:sp>
      <p:pic>
        <p:nvPicPr>
          <p:cNvPr id="10" name="Image 2" descr="preencoded.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450875" y="3185368"/>
            <a:ext cx="4798963" cy="688330"/>
          </a:xfrm>
          <a:prstGeom prst="rect">
            <a:avLst/>
          </a:prstGeom>
        </p:spPr>
      </p:pic>
      <p:sp>
        <p:nvSpPr>
          <p:cNvPr id="11" name="Text 6"/>
          <p:cNvSpPr/>
          <p:nvPr/>
        </p:nvSpPr>
        <p:spPr>
          <a:xfrm>
            <a:off x="638547" y="3315891"/>
            <a:ext cx="1453604" cy="181645"/>
          </a:xfrm>
          <a:prstGeom prst="rect">
            <a:avLst/>
          </a:prstGeom>
          <a:noFill/>
        </p:spPr>
        <p:txBody>
          <a:bodyPr wrap="none" lIns="0" tIns="0" rIns="0" bIns="0" rtlCol="0" anchor="t"/>
          <a:lstStyle/>
          <a:p>
            <a:pPr marL="0" indent="0" algn="l">
              <a:lnSpc>
                <a:spcPct val="104000"/>
              </a:lnSpc>
              <a:buNone/>
            </a:pPr>
            <a:r>
              <a:rPr lang="en-US" sz="1100" dirty="0">
                <a:solidFill>
                  <a:srgbClr val="55575A"/>
                </a:solidFill>
                <a:latin typeface="Inter" panose="02000503000000020004" pitchFamily="34" charset="0"/>
                <a:ea typeface="Inter" panose="02000503000000020004" pitchFamily="34" charset="-122"/>
                <a:cs typeface="Inter" panose="02000503000000020004" pitchFamily="34" charset="-120"/>
              </a:rPr>
              <a:t>Malicious Links</a:t>
            </a:r>
            <a:endParaRPr lang="en-US" sz="1100" dirty="0"/>
          </a:p>
        </p:txBody>
      </p:sp>
      <p:sp>
        <p:nvSpPr>
          <p:cNvPr id="12" name="Text 7"/>
          <p:cNvSpPr/>
          <p:nvPr/>
        </p:nvSpPr>
        <p:spPr>
          <a:xfrm>
            <a:off x="638547" y="3562945"/>
            <a:ext cx="4480768" cy="180231"/>
          </a:xfrm>
          <a:prstGeom prst="rect">
            <a:avLst/>
          </a:prstGeom>
          <a:noFill/>
        </p:spPr>
        <p:txBody>
          <a:bodyPr wrap="none" lIns="0" tIns="0" rIns="0" bIns="0" rtlCol="0" anchor="t"/>
          <a:lstStyle/>
          <a:p>
            <a:pPr marL="0" indent="0" algn="l">
              <a:lnSpc>
                <a:spcPct val="129000"/>
              </a:lnSpc>
              <a:buNone/>
            </a:pPr>
            <a:r>
              <a:rPr lang="en-US" sz="900" dirty="0">
                <a:solidFill>
                  <a:srgbClr val="55575A"/>
                </a:solidFill>
                <a:latin typeface="Manrope" pitchFamily="34" charset="0"/>
                <a:ea typeface="Manrope" pitchFamily="34" charset="-122"/>
                <a:cs typeface="Manrope" pitchFamily="34" charset="-120"/>
              </a:rPr>
              <a:t>Redirecting users to fake websites designed to steal credentials or install malware.</a:t>
            </a:r>
            <a:endParaRPr lang="en-US" sz="900" dirty="0"/>
          </a:p>
        </p:txBody>
      </p:sp>
      <p:pic>
        <p:nvPicPr>
          <p:cNvPr id="13" name="Image 3" descr="preencoded.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450875" y="3982715"/>
            <a:ext cx="4798963" cy="688330"/>
          </a:xfrm>
          <a:prstGeom prst="rect">
            <a:avLst/>
          </a:prstGeom>
        </p:spPr>
      </p:pic>
      <p:sp>
        <p:nvSpPr>
          <p:cNvPr id="14" name="Text 8"/>
          <p:cNvSpPr/>
          <p:nvPr/>
        </p:nvSpPr>
        <p:spPr>
          <a:xfrm>
            <a:off x="638547" y="4113237"/>
            <a:ext cx="1453604" cy="181645"/>
          </a:xfrm>
          <a:prstGeom prst="rect">
            <a:avLst/>
          </a:prstGeom>
          <a:noFill/>
        </p:spPr>
        <p:txBody>
          <a:bodyPr wrap="none" lIns="0" tIns="0" rIns="0" bIns="0" rtlCol="0" anchor="t"/>
          <a:lstStyle/>
          <a:p>
            <a:pPr marL="0" indent="0" algn="l">
              <a:lnSpc>
                <a:spcPct val="104000"/>
              </a:lnSpc>
              <a:buNone/>
            </a:pPr>
            <a:r>
              <a:rPr lang="en-US" sz="1100" dirty="0">
                <a:solidFill>
                  <a:srgbClr val="55575A"/>
                </a:solidFill>
                <a:latin typeface="Inter" panose="02000503000000020004" pitchFamily="34" charset="0"/>
                <a:ea typeface="Inter" panose="02000503000000020004" pitchFamily="34" charset="-122"/>
                <a:cs typeface="Inter" panose="02000503000000020004" pitchFamily="34" charset="-120"/>
              </a:rPr>
              <a:t>Harmful Downloads</a:t>
            </a:r>
            <a:endParaRPr lang="en-US" sz="1100" dirty="0"/>
          </a:p>
        </p:txBody>
      </p:sp>
      <p:sp>
        <p:nvSpPr>
          <p:cNvPr id="15" name="Text 9"/>
          <p:cNvSpPr/>
          <p:nvPr/>
        </p:nvSpPr>
        <p:spPr>
          <a:xfrm>
            <a:off x="638547" y="4360292"/>
            <a:ext cx="4480768" cy="180231"/>
          </a:xfrm>
          <a:prstGeom prst="rect">
            <a:avLst/>
          </a:prstGeom>
          <a:noFill/>
        </p:spPr>
        <p:txBody>
          <a:bodyPr wrap="none" lIns="0" tIns="0" rIns="0" bIns="0" rtlCol="0" anchor="t"/>
          <a:lstStyle/>
          <a:p>
            <a:pPr marL="0" indent="0" algn="l">
              <a:lnSpc>
                <a:spcPct val="129000"/>
              </a:lnSpc>
              <a:buNone/>
            </a:pPr>
            <a:r>
              <a:rPr lang="en-US" sz="900" dirty="0">
                <a:solidFill>
                  <a:srgbClr val="55575A"/>
                </a:solidFill>
                <a:latin typeface="Manrope" pitchFamily="34" charset="0"/>
                <a:ea typeface="Manrope" pitchFamily="34" charset="-122"/>
                <a:cs typeface="Manrope" pitchFamily="34" charset="-120"/>
              </a:rPr>
              <a:t>Coercing users into downloading viruses, ransomware, or other malicious software.</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96119" y="713036"/>
            <a:ext cx="5122292" cy="310083"/>
          </a:xfrm>
          <a:prstGeom prst="rect">
            <a:avLst/>
          </a:prstGeom>
          <a:noFill/>
        </p:spPr>
        <p:txBody>
          <a:bodyPr wrap="none" lIns="0" tIns="0" rIns="0" bIns="0" rtlCol="0" anchor="t"/>
          <a:lstStyle/>
          <a:p>
            <a:pPr marL="0" indent="0" algn="l">
              <a:lnSpc>
                <a:spcPct val="104000"/>
              </a:lnSpc>
              <a:buNone/>
            </a:pPr>
            <a:r>
              <a:rPr lang="en-US" sz="1950" dirty="0">
                <a:solidFill>
                  <a:srgbClr val="0C0D0F"/>
                </a:solidFill>
                <a:latin typeface="Inter" panose="02000503000000020004" pitchFamily="34" charset="0"/>
                <a:ea typeface="Inter" panose="02000503000000020004" pitchFamily="34" charset="-122"/>
                <a:cs typeface="Inter" panose="02000503000000020004" pitchFamily="34" charset="-120"/>
              </a:rPr>
              <a:t>Understanding Diverse Phishing Tactics</a:t>
            </a:r>
            <a:endParaRPr lang="en-US" sz="1950" dirty="0"/>
          </a:p>
        </p:txBody>
      </p:sp>
      <p:sp>
        <p:nvSpPr>
          <p:cNvPr id="5" name="Text 3"/>
          <p:cNvSpPr/>
          <p:nvPr/>
        </p:nvSpPr>
        <p:spPr>
          <a:xfrm>
            <a:off x="496119" y="1209154"/>
            <a:ext cx="8151763" cy="396925"/>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 Phishing isn't a single, monolithic threat; it encompasses a variety of sophisticated techniques, each designed to exploit different communication channels and psychological vulnerabilities. Recognizing these distinct types is crucial for a comprehensive defense strategy. </a:t>
            </a:r>
            <a:endParaRPr lang="en-US" sz="950" dirty="0"/>
          </a:p>
        </p:txBody>
      </p:sp>
      <p:pic>
        <p:nvPicPr>
          <p:cNvPr id="6" name="Image 0" descr="preencoded.png"/>
          <p:cNvPicPr>
            <a:picLocks noChangeAspect="1"/>
          </p:cNvPicPr>
          <p:nvPr/>
        </p:nvPicPr>
        <p:blipFill>
          <a:blip r:embed="rId1"/>
          <a:stretch>
            <a:fillRect/>
          </a:stretch>
        </p:blipFill>
        <p:spPr>
          <a:xfrm>
            <a:off x="496119" y="1745605"/>
            <a:ext cx="422746" cy="422746"/>
          </a:xfrm>
          <a:prstGeom prst="rect">
            <a:avLst/>
          </a:prstGeom>
        </p:spPr>
      </p:pic>
      <p:sp>
        <p:nvSpPr>
          <p:cNvPr id="7" name="Text 4"/>
          <p:cNvSpPr/>
          <p:nvPr/>
        </p:nvSpPr>
        <p:spPr>
          <a:xfrm>
            <a:off x="1073869" y="1745605"/>
            <a:ext cx="1343918" cy="193849"/>
          </a:xfrm>
          <a:prstGeom prst="rect">
            <a:avLst/>
          </a:prstGeom>
          <a:noFill/>
        </p:spPr>
        <p:txBody>
          <a:bodyPr wrap="none" lIns="0" tIns="0" rIns="0" bIns="0" rtlCol="0" anchor="t"/>
          <a:lstStyle/>
          <a:p>
            <a:pPr marL="0" indent="0" algn="l">
              <a:lnSpc>
                <a:spcPct val="104000"/>
              </a:lnSpc>
              <a:buNone/>
            </a:pPr>
            <a:r>
              <a:rPr lang="en-US" sz="1200" dirty="0">
                <a:solidFill>
                  <a:srgbClr val="55575A"/>
                </a:solidFill>
                <a:latin typeface="Inter" panose="02000503000000020004" pitchFamily="34" charset="0"/>
                <a:ea typeface="Inter" panose="02000503000000020004" pitchFamily="34" charset="-122"/>
                <a:cs typeface="Inter" panose="02000503000000020004" pitchFamily="34" charset="-120"/>
              </a:rPr>
              <a:t>Email Phishing</a:t>
            </a:r>
            <a:endParaRPr lang="en-US" sz="1200" dirty="0"/>
          </a:p>
        </p:txBody>
      </p:sp>
      <p:sp>
        <p:nvSpPr>
          <p:cNvPr id="8" name="Text 5"/>
          <p:cNvSpPr/>
          <p:nvPr/>
        </p:nvSpPr>
        <p:spPr>
          <a:xfrm>
            <a:off x="1073869" y="2013868"/>
            <a:ext cx="1343918" cy="992312"/>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The most common form, using fraudulent emails to mimic legitimate organizations.</a:t>
            </a:r>
            <a:endParaRPr lang="en-US" sz="950" dirty="0"/>
          </a:p>
        </p:txBody>
      </p:sp>
      <p:pic>
        <p:nvPicPr>
          <p:cNvPr id="9" name="Image 1" descr="preencoded.png"/>
          <p:cNvPicPr>
            <a:picLocks noChangeAspect="1"/>
          </p:cNvPicPr>
          <p:nvPr/>
        </p:nvPicPr>
        <p:blipFill>
          <a:blip r:embed="rId2"/>
          <a:stretch>
            <a:fillRect/>
          </a:stretch>
        </p:blipFill>
        <p:spPr>
          <a:xfrm>
            <a:off x="2572792" y="1745605"/>
            <a:ext cx="422746" cy="422746"/>
          </a:xfrm>
          <a:prstGeom prst="rect">
            <a:avLst/>
          </a:prstGeom>
        </p:spPr>
      </p:pic>
      <p:sp>
        <p:nvSpPr>
          <p:cNvPr id="10" name="Text 6"/>
          <p:cNvSpPr/>
          <p:nvPr/>
        </p:nvSpPr>
        <p:spPr>
          <a:xfrm>
            <a:off x="3150543" y="1745605"/>
            <a:ext cx="1343918" cy="193849"/>
          </a:xfrm>
          <a:prstGeom prst="rect">
            <a:avLst/>
          </a:prstGeom>
          <a:noFill/>
        </p:spPr>
        <p:txBody>
          <a:bodyPr wrap="none" lIns="0" tIns="0" rIns="0" bIns="0" rtlCol="0" anchor="t"/>
          <a:lstStyle/>
          <a:p>
            <a:pPr marL="0" indent="0" algn="l">
              <a:lnSpc>
                <a:spcPct val="104000"/>
              </a:lnSpc>
              <a:buNone/>
            </a:pPr>
            <a:r>
              <a:rPr lang="en-US" sz="1200" dirty="0">
                <a:solidFill>
                  <a:srgbClr val="55575A"/>
                </a:solidFill>
                <a:latin typeface="Inter" panose="02000503000000020004" pitchFamily="34" charset="0"/>
                <a:ea typeface="Inter" panose="02000503000000020004" pitchFamily="34" charset="-122"/>
                <a:cs typeface="Inter" panose="02000503000000020004" pitchFamily="34" charset="-120"/>
              </a:rPr>
              <a:t>Spear Phishing</a:t>
            </a:r>
            <a:endParaRPr lang="en-US" sz="1200" dirty="0"/>
          </a:p>
        </p:txBody>
      </p:sp>
      <p:sp>
        <p:nvSpPr>
          <p:cNvPr id="11" name="Text 7"/>
          <p:cNvSpPr/>
          <p:nvPr/>
        </p:nvSpPr>
        <p:spPr>
          <a:xfrm>
            <a:off x="3150543" y="2013868"/>
            <a:ext cx="1343918" cy="992312"/>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Highly personalized attacks targeting specific individuals, often based on their roles or interests.</a:t>
            </a:r>
            <a:endParaRPr lang="en-US" sz="950" dirty="0"/>
          </a:p>
        </p:txBody>
      </p:sp>
      <p:pic>
        <p:nvPicPr>
          <p:cNvPr id="12" name="Image 2" descr="preencoded.png"/>
          <p:cNvPicPr>
            <a:picLocks noChangeAspect="1"/>
          </p:cNvPicPr>
          <p:nvPr/>
        </p:nvPicPr>
        <p:blipFill>
          <a:blip r:embed="rId3"/>
          <a:stretch>
            <a:fillRect/>
          </a:stretch>
        </p:blipFill>
        <p:spPr>
          <a:xfrm>
            <a:off x="4649465" y="1745605"/>
            <a:ext cx="422746" cy="422746"/>
          </a:xfrm>
          <a:prstGeom prst="rect">
            <a:avLst/>
          </a:prstGeom>
        </p:spPr>
      </p:pic>
      <p:sp>
        <p:nvSpPr>
          <p:cNvPr id="13" name="Text 8"/>
          <p:cNvSpPr/>
          <p:nvPr/>
        </p:nvSpPr>
        <p:spPr>
          <a:xfrm>
            <a:off x="5227216" y="1745605"/>
            <a:ext cx="1343918" cy="193849"/>
          </a:xfrm>
          <a:prstGeom prst="rect">
            <a:avLst/>
          </a:prstGeom>
          <a:noFill/>
        </p:spPr>
        <p:txBody>
          <a:bodyPr wrap="none" lIns="0" tIns="0" rIns="0" bIns="0" rtlCol="0" anchor="t"/>
          <a:lstStyle/>
          <a:p>
            <a:pPr marL="0" indent="0" algn="l">
              <a:lnSpc>
                <a:spcPct val="104000"/>
              </a:lnSpc>
              <a:buNone/>
            </a:pPr>
            <a:r>
              <a:rPr lang="en-US" sz="1200" dirty="0">
                <a:solidFill>
                  <a:srgbClr val="55575A"/>
                </a:solidFill>
                <a:latin typeface="Inter" panose="02000503000000020004" pitchFamily="34" charset="0"/>
                <a:ea typeface="Inter" panose="02000503000000020004" pitchFamily="34" charset="-122"/>
                <a:cs typeface="Inter" panose="02000503000000020004" pitchFamily="34" charset="-120"/>
              </a:rPr>
              <a:t>Smishing</a:t>
            </a:r>
            <a:endParaRPr lang="en-US" sz="1200" dirty="0"/>
          </a:p>
        </p:txBody>
      </p:sp>
      <p:sp>
        <p:nvSpPr>
          <p:cNvPr id="14" name="Text 9"/>
          <p:cNvSpPr/>
          <p:nvPr/>
        </p:nvSpPr>
        <p:spPr>
          <a:xfrm>
            <a:off x="5227216" y="2013868"/>
            <a:ext cx="1343918" cy="1190774"/>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Phishing attempts delivered via SMS messages, often containing malicious links or requests for information.</a:t>
            </a:r>
            <a:endParaRPr lang="en-US" sz="950" dirty="0"/>
          </a:p>
        </p:txBody>
      </p:sp>
      <p:pic>
        <p:nvPicPr>
          <p:cNvPr id="15" name="Image 3" descr="preencoded.png"/>
          <p:cNvPicPr>
            <a:picLocks noChangeAspect="1"/>
          </p:cNvPicPr>
          <p:nvPr/>
        </p:nvPicPr>
        <p:blipFill>
          <a:blip r:embed="rId4"/>
          <a:stretch>
            <a:fillRect/>
          </a:stretch>
        </p:blipFill>
        <p:spPr>
          <a:xfrm>
            <a:off x="6726138" y="1745605"/>
            <a:ext cx="422746" cy="422746"/>
          </a:xfrm>
          <a:prstGeom prst="rect">
            <a:avLst/>
          </a:prstGeom>
        </p:spPr>
      </p:pic>
      <p:sp>
        <p:nvSpPr>
          <p:cNvPr id="16" name="Text 10"/>
          <p:cNvSpPr/>
          <p:nvPr/>
        </p:nvSpPr>
        <p:spPr>
          <a:xfrm>
            <a:off x="7303889" y="1745605"/>
            <a:ext cx="1343992" cy="193849"/>
          </a:xfrm>
          <a:prstGeom prst="rect">
            <a:avLst/>
          </a:prstGeom>
          <a:noFill/>
        </p:spPr>
        <p:txBody>
          <a:bodyPr wrap="none" lIns="0" tIns="0" rIns="0" bIns="0" rtlCol="0" anchor="t"/>
          <a:lstStyle/>
          <a:p>
            <a:pPr marL="0" indent="0" algn="l">
              <a:lnSpc>
                <a:spcPct val="104000"/>
              </a:lnSpc>
              <a:buNone/>
            </a:pPr>
            <a:r>
              <a:rPr lang="en-US" sz="1200" dirty="0">
                <a:solidFill>
                  <a:srgbClr val="55575A"/>
                </a:solidFill>
                <a:latin typeface="Inter" panose="02000503000000020004" pitchFamily="34" charset="0"/>
                <a:ea typeface="Inter" panose="02000503000000020004" pitchFamily="34" charset="-122"/>
                <a:cs typeface="Inter" panose="02000503000000020004" pitchFamily="34" charset="-120"/>
              </a:rPr>
              <a:t>Vishing</a:t>
            </a:r>
            <a:endParaRPr lang="en-US" sz="1200" dirty="0"/>
          </a:p>
        </p:txBody>
      </p:sp>
      <p:sp>
        <p:nvSpPr>
          <p:cNvPr id="17" name="Text 11"/>
          <p:cNvSpPr/>
          <p:nvPr/>
        </p:nvSpPr>
        <p:spPr>
          <a:xfrm>
            <a:off x="7303889" y="2013868"/>
            <a:ext cx="1343992" cy="1190774"/>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Voice phishing, where attackers use deceptive phone calls to trick victims into revealing sensitive data.</a:t>
            </a:r>
            <a:endParaRPr lang="en-US" sz="950" dirty="0"/>
          </a:p>
        </p:txBody>
      </p:sp>
      <p:pic>
        <p:nvPicPr>
          <p:cNvPr id="18" name="Image 4" descr="preencoded.png"/>
          <p:cNvPicPr>
            <a:picLocks noChangeAspect="1"/>
          </p:cNvPicPr>
          <p:nvPr/>
        </p:nvPicPr>
        <p:blipFill>
          <a:blip r:embed="rId5"/>
          <a:stretch>
            <a:fillRect/>
          </a:stretch>
        </p:blipFill>
        <p:spPr>
          <a:xfrm>
            <a:off x="496119" y="3452664"/>
            <a:ext cx="422746" cy="422746"/>
          </a:xfrm>
          <a:prstGeom prst="rect">
            <a:avLst/>
          </a:prstGeom>
        </p:spPr>
      </p:pic>
      <p:sp>
        <p:nvSpPr>
          <p:cNvPr id="19" name="Text 12"/>
          <p:cNvSpPr/>
          <p:nvPr/>
        </p:nvSpPr>
        <p:spPr>
          <a:xfrm>
            <a:off x="1073869" y="3452664"/>
            <a:ext cx="1343918" cy="193849"/>
          </a:xfrm>
          <a:prstGeom prst="rect">
            <a:avLst/>
          </a:prstGeom>
          <a:noFill/>
        </p:spPr>
        <p:txBody>
          <a:bodyPr wrap="none" lIns="0" tIns="0" rIns="0" bIns="0" rtlCol="0" anchor="t"/>
          <a:lstStyle/>
          <a:p>
            <a:pPr marL="0" indent="0" algn="l">
              <a:lnSpc>
                <a:spcPct val="104000"/>
              </a:lnSpc>
              <a:buNone/>
            </a:pPr>
            <a:r>
              <a:rPr lang="en-US" sz="1200" dirty="0">
                <a:solidFill>
                  <a:srgbClr val="55575A"/>
                </a:solidFill>
                <a:latin typeface="Inter" panose="02000503000000020004" pitchFamily="34" charset="0"/>
                <a:ea typeface="Inter" panose="02000503000000020004" pitchFamily="34" charset="-122"/>
                <a:cs typeface="Inter" panose="02000503000000020004" pitchFamily="34" charset="-120"/>
              </a:rPr>
              <a:t>Clone Phishing</a:t>
            </a:r>
            <a:endParaRPr lang="en-US" sz="1200" dirty="0"/>
          </a:p>
        </p:txBody>
      </p:sp>
      <p:sp>
        <p:nvSpPr>
          <p:cNvPr id="20" name="Text 13"/>
          <p:cNvSpPr/>
          <p:nvPr/>
        </p:nvSpPr>
        <p:spPr>
          <a:xfrm>
            <a:off x="1073869" y="3720926"/>
            <a:ext cx="1343918" cy="992312"/>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Recreating a legitimate email that was previously sent, but with malicious links or attachments.</a:t>
            </a:r>
            <a:endParaRPr lang="en-US" sz="950" dirty="0"/>
          </a:p>
        </p:txBody>
      </p:sp>
      <p:sp>
        <p:nvSpPr>
          <p:cNvPr id="23" name="Rectangle 22"/>
          <p:cNvSpPr/>
          <p:nvPr/>
        </p:nvSpPr>
        <p:spPr>
          <a:xfrm>
            <a:off x="7931785" y="4747895"/>
            <a:ext cx="1212215" cy="39624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65162" y="627608"/>
            <a:ext cx="3878833" cy="290736"/>
          </a:xfrm>
          <a:prstGeom prst="rect">
            <a:avLst/>
          </a:prstGeom>
          <a:noFill/>
        </p:spPr>
        <p:txBody>
          <a:bodyPr wrap="none" lIns="0" tIns="0" rIns="0" bIns="0" rtlCol="0" anchor="t"/>
          <a:lstStyle/>
          <a:p>
            <a:pPr marL="0" indent="0" algn="l">
              <a:lnSpc>
                <a:spcPct val="104000"/>
              </a:lnSpc>
              <a:buNone/>
            </a:pPr>
            <a:r>
              <a:rPr lang="en-US" sz="1800" dirty="0">
                <a:solidFill>
                  <a:srgbClr val="0C0D0F"/>
                </a:solidFill>
                <a:latin typeface="Inter" panose="02000503000000020004" pitchFamily="34" charset="0"/>
                <a:ea typeface="Inter" panose="02000503000000020004" pitchFamily="34" charset="-122"/>
                <a:cs typeface="Inter" panose="02000503000000020004" pitchFamily="34" charset="-120"/>
              </a:rPr>
              <a:t>Spotting Phishing in Your Inbox</a:t>
            </a:r>
            <a:endParaRPr lang="en-US" sz="1800" dirty="0"/>
          </a:p>
        </p:txBody>
      </p:sp>
      <p:sp>
        <p:nvSpPr>
          <p:cNvPr id="5" name="Text 3"/>
          <p:cNvSpPr/>
          <p:nvPr/>
        </p:nvSpPr>
        <p:spPr>
          <a:xfrm>
            <a:off x="465162" y="1081832"/>
            <a:ext cx="8213675" cy="360462"/>
          </a:xfrm>
          <a:prstGeom prst="rect">
            <a:avLst/>
          </a:prstGeom>
          <a:noFill/>
        </p:spPr>
        <p:txBody>
          <a:bodyPr wrap="square" lIns="0" tIns="0" rIns="0" bIns="0" rtlCol="0" anchor="t">
            <a:normAutofit/>
          </a:bodyPr>
          <a:lstStyle/>
          <a:p>
            <a:pPr marL="0" indent="0" algn="l">
              <a:lnSpc>
                <a:spcPct val="129000"/>
              </a:lnSpc>
              <a:buNone/>
            </a:pPr>
            <a:r>
              <a:rPr lang="en-US" sz="900" dirty="0">
                <a:solidFill>
                  <a:srgbClr val="55575A"/>
                </a:solidFill>
                <a:latin typeface="Manrope" pitchFamily="34" charset="0"/>
                <a:ea typeface="Manrope" pitchFamily="34" charset="-122"/>
                <a:cs typeface="Manrope" pitchFamily="34" charset="-120"/>
              </a:rPr>
              <a:t> Your email inbox is a primary battleground for phishing attacks. Learning to identify the subtle, and sometimes not-so-subtle, warning signs can save you and the organization from significant harm. Always approach unexpected or suspicious emails with a critical eye. </a:t>
            </a:r>
            <a:endParaRPr lang="en-US" sz="900" dirty="0"/>
          </a:p>
        </p:txBody>
      </p:sp>
      <p:sp>
        <p:nvSpPr>
          <p:cNvPr id="6" name="Shape 4"/>
          <p:cNvSpPr/>
          <p:nvPr/>
        </p:nvSpPr>
        <p:spPr>
          <a:xfrm>
            <a:off x="465162" y="1564928"/>
            <a:ext cx="261640" cy="261640"/>
          </a:xfrm>
          <a:prstGeom prst="roundRect">
            <a:avLst>
              <a:gd name="adj" fmla="val 40003"/>
            </a:avLst>
          </a:prstGeom>
          <a:solidFill>
            <a:srgbClr val="FFFFFF"/>
          </a:solidFill>
          <a:ln w="4763">
            <a:solidFill>
              <a:srgbClr val="FF7047"/>
            </a:solidFill>
            <a:prstDash val="solid"/>
          </a:ln>
        </p:spPr>
      </p:sp>
      <p:sp>
        <p:nvSpPr>
          <p:cNvPr id="7" name="Text 5"/>
          <p:cNvSpPr/>
          <p:nvPr/>
        </p:nvSpPr>
        <p:spPr>
          <a:xfrm>
            <a:off x="835819" y="1604888"/>
            <a:ext cx="1791667" cy="181645"/>
          </a:xfrm>
          <a:prstGeom prst="rect">
            <a:avLst/>
          </a:prstGeom>
          <a:noFill/>
        </p:spPr>
        <p:txBody>
          <a:bodyPr wrap="none" lIns="0" tIns="0" rIns="0" bIns="0" rtlCol="0" anchor="t"/>
          <a:lstStyle/>
          <a:p>
            <a:pPr marL="0" indent="0" algn="l">
              <a:lnSpc>
                <a:spcPct val="104000"/>
              </a:lnSpc>
              <a:buNone/>
            </a:pPr>
            <a:r>
              <a:rPr lang="en-US" sz="1100" dirty="0">
                <a:solidFill>
                  <a:srgbClr val="55575A"/>
                </a:solidFill>
                <a:latin typeface="Inter" panose="02000503000000020004" pitchFamily="34" charset="0"/>
                <a:ea typeface="Inter" panose="02000503000000020004" pitchFamily="34" charset="-122"/>
                <a:cs typeface="Inter" panose="02000503000000020004" pitchFamily="34" charset="-120"/>
              </a:rPr>
              <a:t>Unknown Sender Address</a:t>
            </a:r>
            <a:endParaRPr lang="en-US" sz="1100" dirty="0"/>
          </a:p>
        </p:txBody>
      </p:sp>
      <p:sp>
        <p:nvSpPr>
          <p:cNvPr id="8" name="Text 6"/>
          <p:cNvSpPr/>
          <p:nvPr/>
        </p:nvSpPr>
        <p:spPr>
          <a:xfrm>
            <a:off x="835819" y="1851943"/>
            <a:ext cx="7843019" cy="180231"/>
          </a:xfrm>
          <a:prstGeom prst="rect">
            <a:avLst/>
          </a:prstGeom>
          <a:noFill/>
        </p:spPr>
        <p:txBody>
          <a:bodyPr wrap="none" lIns="0" tIns="0" rIns="0" bIns="0" rtlCol="0" anchor="t"/>
          <a:lstStyle/>
          <a:p>
            <a:pPr marL="0" indent="0" algn="l">
              <a:lnSpc>
                <a:spcPct val="129000"/>
              </a:lnSpc>
              <a:buNone/>
            </a:pPr>
            <a:r>
              <a:rPr lang="en-US" sz="900" dirty="0">
                <a:solidFill>
                  <a:srgbClr val="55575A"/>
                </a:solidFill>
                <a:latin typeface="Manrope" pitchFamily="34" charset="0"/>
                <a:ea typeface="Manrope" pitchFamily="34" charset="-122"/>
                <a:cs typeface="Manrope" pitchFamily="34" charset="-120"/>
              </a:rPr>
              <a:t>Always check the full email address, not just the display name. Look for inconsistencies or unusual domains.</a:t>
            </a:r>
            <a:endParaRPr lang="en-US" sz="900" dirty="0"/>
          </a:p>
        </p:txBody>
      </p:sp>
      <p:sp>
        <p:nvSpPr>
          <p:cNvPr id="9" name="Shape 7"/>
          <p:cNvSpPr/>
          <p:nvPr/>
        </p:nvSpPr>
        <p:spPr>
          <a:xfrm>
            <a:off x="465162" y="2250207"/>
            <a:ext cx="261640" cy="261640"/>
          </a:xfrm>
          <a:prstGeom prst="roundRect">
            <a:avLst>
              <a:gd name="adj" fmla="val 40003"/>
            </a:avLst>
          </a:prstGeom>
          <a:solidFill>
            <a:srgbClr val="FFFFFF"/>
          </a:solidFill>
          <a:ln w="4763">
            <a:solidFill>
              <a:srgbClr val="FF7047"/>
            </a:solidFill>
            <a:prstDash val="solid"/>
          </a:ln>
        </p:spPr>
      </p:sp>
      <p:sp>
        <p:nvSpPr>
          <p:cNvPr id="10" name="Text 8"/>
          <p:cNvSpPr/>
          <p:nvPr/>
        </p:nvSpPr>
        <p:spPr>
          <a:xfrm>
            <a:off x="835819" y="2290167"/>
            <a:ext cx="2058739" cy="181645"/>
          </a:xfrm>
          <a:prstGeom prst="rect">
            <a:avLst/>
          </a:prstGeom>
          <a:noFill/>
        </p:spPr>
        <p:txBody>
          <a:bodyPr wrap="none" lIns="0" tIns="0" rIns="0" bIns="0" rtlCol="0" anchor="t"/>
          <a:lstStyle/>
          <a:p>
            <a:pPr marL="0" indent="0" algn="l">
              <a:lnSpc>
                <a:spcPct val="104000"/>
              </a:lnSpc>
              <a:buNone/>
            </a:pPr>
            <a:r>
              <a:rPr lang="en-US" sz="1100" dirty="0">
                <a:solidFill>
                  <a:srgbClr val="55575A"/>
                </a:solidFill>
                <a:latin typeface="Inter" panose="02000503000000020004" pitchFamily="34" charset="0"/>
                <a:ea typeface="Inter" panose="02000503000000020004" pitchFamily="34" charset="-122"/>
                <a:cs typeface="Inter" panose="02000503000000020004" pitchFamily="34" charset="-120"/>
              </a:rPr>
              <a:t>Spelling or Grammar Mistakes</a:t>
            </a:r>
            <a:endParaRPr lang="en-US" sz="1100" dirty="0"/>
          </a:p>
        </p:txBody>
      </p:sp>
      <p:sp>
        <p:nvSpPr>
          <p:cNvPr id="11" name="Text 9"/>
          <p:cNvSpPr/>
          <p:nvPr/>
        </p:nvSpPr>
        <p:spPr>
          <a:xfrm>
            <a:off x="835819" y="2537222"/>
            <a:ext cx="7843019" cy="180231"/>
          </a:xfrm>
          <a:prstGeom prst="rect">
            <a:avLst/>
          </a:prstGeom>
          <a:noFill/>
        </p:spPr>
        <p:txBody>
          <a:bodyPr wrap="none" lIns="0" tIns="0" rIns="0" bIns="0" rtlCol="0" anchor="t"/>
          <a:lstStyle/>
          <a:p>
            <a:pPr marL="0" indent="0" algn="l">
              <a:lnSpc>
                <a:spcPct val="129000"/>
              </a:lnSpc>
              <a:buNone/>
            </a:pPr>
            <a:r>
              <a:rPr lang="en-US" sz="900" dirty="0">
                <a:solidFill>
                  <a:srgbClr val="55575A"/>
                </a:solidFill>
                <a:latin typeface="Manrope" pitchFamily="34" charset="0"/>
                <a:ea typeface="Manrope" pitchFamily="34" charset="-122"/>
                <a:cs typeface="Manrope" pitchFamily="34" charset="-120"/>
              </a:rPr>
              <a:t>Professional organizations rarely send emails riddled with errors. These are red flags indicating a potential scam.</a:t>
            </a:r>
            <a:endParaRPr lang="en-US" sz="900" dirty="0"/>
          </a:p>
        </p:txBody>
      </p:sp>
      <p:sp>
        <p:nvSpPr>
          <p:cNvPr id="12" name="Shape 10"/>
          <p:cNvSpPr/>
          <p:nvPr/>
        </p:nvSpPr>
        <p:spPr>
          <a:xfrm>
            <a:off x="465162" y="2935486"/>
            <a:ext cx="261640" cy="261640"/>
          </a:xfrm>
          <a:prstGeom prst="roundRect">
            <a:avLst>
              <a:gd name="adj" fmla="val 40003"/>
            </a:avLst>
          </a:prstGeom>
          <a:solidFill>
            <a:srgbClr val="FFFFFF"/>
          </a:solidFill>
          <a:ln w="4763">
            <a:solidFill>
              <a:srgbClr val="FF7047"/>
            </a:solidFill>
            <a:prstDash val="solid"/>
          </a:ln>
        </p:spPr>
      </p:sp>
      <p:sp>
        <p:nvSpPr>
          <p:cNvPr id="13" name="Text 11"/>
          <p:cNvSpPr/>
          <p:nvPr/>
        </p:nvSpPr>
        <p:spPr>
          <a:xfrm>
            <a:off x="835819" y="2975446"/>
            <a:ext cx="2260550" cy="181645"/>
          </a:xfrm>
          <a:prstGeom prst="rect">
            <a:avLst/>
          </a:prstGeom>
          <a:noFill/>
        </p:spPr>
        <p:txBody>
          <a:bodyPr wrap="none" lIns="0" tIns="0" rIns="0" bIns="0" rtlCol="0" anchor="t"/>
          <a:lstStyle/>
          <a:p>
            <a:pPr marL="0" indent="0" algn="l">
              <a:lnSpc>
                <a:spcPct val="104000"/>
              </a:lnSpc>
              <a:buNone/>
            </a:pPr>
            <a:r>
              <a:rPr lang="en-US" sz="1100" dirty="0">
                <a:solidFill>
                  <a:srgbClr val="55575A"/>
                </a:solidFill>
                <a:latin typeface="Inter" panose="02000503000000020004" pitchFamily="34" charset="0"/>
                <a:ea typeface="Inter" panose="02000503000000020004" pitchFamily="34" charset="-122"/>
                <a:cs typeface="Inter" panose="02000503000000020004" pitchFamily="34" charset="-120"/>
              </a:rPr>
              <a:t>Urgent or Threatening Messages</a:t>
            </a:r>
            <a:endParaRPr lang="en-US" sz="1100" dirty="0"/>
          </a:p>
        </p:txBody>
      </p:sp>
      <p:sp>
        <p:nvSpPr>
          <p:cNvPr id="14" name="Text 12"/>
          <p:cNvSpPr/>
          <p:nvPr/>
        </p:nvSpPr>
        <p:spPr>
          <a:xfrm>
            <a:off x="835819" y="3222501"/>
            <a:ext cx="7843019" cy="180231"/>
          </a:xfrm>
          <a:prstGeom prst="rect">
            <a:avLst/>
          </a:prstGeom>
          <a:noFill/>
        </p:spPr>
        <p:txBody>
          <a:bodyPr wrap="none" lIns="0" tIns="0" rIns="0" bIns="0" rtlCol="0" anchor="t"/>
          <a:lstStyle/>
          <a:p>
            <a:pPr marL="0" indent="0" algn="l">
              <a:lnSpc>
                <a:spcPct val="129000"/>
              </a:lnSpc>
              <a:buNone/>
            </a:pPr>
            <a:r>
              <a:rPr lang="en-US" sz="900" dirty="0">
                <a:solidFill>
                  <a:srgbClr val="55575A"/>
                </a:solidFill>
                <a:latin typeface="Manrope" pitchFamily="34" charset="0"/>
                <a:ea typeface="Manrope" pitchFamily="34" charset="-122"/>
                <a:cs typeface="Manrope" pitchFamily="34" charset="-120"/>
              </a:rPr>
              <a:t>Phishers often create a sense of panic or urgency ("Act now!", "Account suspended!") to bypass critical thinking.</a:t>
            </a:r>
            <a:endParaRPr lang="en-US" sz="900" dirty="0"/>
          </a:p>
        </p:txBody>
      </p:sp>
      <p:sp>
        <p:nvSpPr>
          <p:cNvPr id="15" name="Shape 13"/>
          <p:cNvSpPr/>
          <p:nvPr/>
        </p:nvSpPr>
        <p:spPr>
          <a:xfrm>
            <a:off x="465162" y="3620765"/>
            <a:ext cx="261640" cy="261640"/>
          </a:xfrm>
          <a:prstGeom prst="roundRect">
            <a:avLst>
              <a:gd name="adj" fmla="val 40003"/>
            </a:avLst>
          </a:prstGeom>
          <a:solidFill>
            <a:srgbClr val="FFFFFF"/>
          </a:solidFill>
          <a:ln w="4763">
            <a:solidFill>
              <a:srgbClr val="FF7047"/>
            </a:solidFill>
            <a:prstDash val="solid"/>
          </a:ln>
        </p:spPr>
      </p:sp>
      <p:sp>
        <p:nvSpPr>
          <p:cNvPr id="16" name="Text 14"/>
          <p:cNvSpPr/>
          <p:nvPr/>
        </p:nvSpPr>
        <p:spPr>
          <a:xfrm>
            <a:off x="835819" y="3660725"/>
            <a:ext cx="1453604" cy="181645"/>
          </a:xfrm>
          <a:prstGeom prst="rect">
            <a:avLst/>
          </a:prstGeom>
          <a:noFill/>
        </p:spPr>
        <p:txBody>
          <a:bodyPr wrap="none" lIns="0" tIns="0" rIns="0" bIns="0" rtlCol="0" anchor="t"/>
          <a:lstStyle/>
          <a:p>
            <a:pPr marL="0" indent="0" algn="l">
              <a:lnSpc>
                <a:spcPct val="104000"/>
              </a:lnSpc>
              <a:buNone/>
            </a:pPr>
            <a:r>
              <a:rPr lang="en-US" sz="1100" dirty="0">
                <a:solidFill>
                  <a:srgbClr val="55575A"/>
                </a:solidFill>
                <a:latin typeface="Inter" panose="02000503000000020004" pitchFamily="34" charset="0"/>
                <a:ea typeface="Inter" panose="02000503000000020004" pitchFamily="34" charset="-122"/>
                <a:cs typeface="Inter" panose="02000503000000020004" pitchFamily="34" charset="-120"/>
              </a:rPr>
              <a:t>Suspicious Links</a:t>
            </a:r>
            <a:endParaRPr lang="en-US" sz="1100" dirty="0"/>
          </a:p>
        </p:txBody>
      </p:sp>
      <p:sp>
        <p:nvSpPr>
          <p:cNvPr id="17" name="Text 15"/>
          <p:cNvSpPr/>
          <p:nvPr/>
        </p:nvSpPr>
        <p:spPr>
          <a:xfrm>
            <a:off x="835819" y="3907780"/>
            <a:ext cx="7843019" cy="180231"/>
          </a:xfrm>
          <a:prstGeom prst="rect">
            <a:avLst/>
          </a:prstGeom>
          <a:noFill/>
        </p:spPr>
        <p:txBody>
          <a:bodyPr wrap="none" lIns="0" tIns="0" rIns="0" bIns="0" rtlCol="0" anchor="t"/>
          <a:lstStyle/>
          <a:p>
            <a:pPr marL="0" indent="0" algn="l">
              <a:lnSpc>
                <a:spcPct val="129000"/>
              </a:lnSpc>
              <a:buNone/>
            </a:pPr>
            <a:r>
              <a:rPr lang="en-US" sz="900" dirty="0">
                <a:solidFill>
                  <a:srgbClr val="55575A"/>
                </a:solidFill>
                <a:latin typeface="Manrope" pitchFamily="34" charset="0"/>
                <a:ea typeface="Manrope" pitchFamily="34" charset="-122"/>
                <a:cs typeface="Manrope" pitchFamily="34" charset="-120"/>
              </a:rPr>
              <a:t>Hover your mouse over any link (without clicking!) to see the actual URL. If it doesn't match the expected domain, it's likely malicious.</a:t>
            </a:r>
            <a:endParaRPr lang="en-US" sz="900" dirty="0"/>
          </a:p>
        </p:txBody>
      </p:sp>
      <p:sp>
        <p:nvSpPr>
          <p:cNvPr id="18" name="Shape 16"/>
          <p:cNvSpPr/>
          <p:nvPr/>
        </p:nvSpPr>
        <p:spPr>
          <a:xfrm>
            <a:off x="465162" y="4306044"/>
            <a:ext cx="261640" cy="261640"/>
          </a:xfrm>
          <a:prstGeom prst="roundRect">
            <a:avLst>
              <a:gd name="adj" fmla="val 40003"/>
            </a:avLst>
          </a:prstGeom>
          <a:solidFill>
            <a:srgbClr val="FFFFFF"/>
          </a:solidFill>
          <a:ln w="4763">
            <a:solidFill>
              <a:srgbClr val="FF7047"/>
            </a:solidFill>
            <a:prstDash val="solid"/>
          </a:ln>
        </p:spPr>
      </p:sp>
      <p:sp>
        <p:nvSpPr>
          <p:cNvPr id="19" name="Text 17"/>
          <p:cNvSpPr/>
          <p:nvPr/>
        </p:nvSpPr>
        <p:spPr>
          <a:xfrm>
            <a:off x="835819" y="4346004"/>
            <a:ext cx="1736824" cy="181645"/>
          </a:xfrm>
          <a:prstGeom prst="rect">
            <a:avLst/>
          </a:prstGeom>
          <a:noFill/>
        </p:spPr>
        <p:txBody>
          <a:bodyPr wrap="none" lIns="0" tIns="0" rIns="0" bIns="0" rtlCol="0" anchor="t"/>
          <a:lstStyle/>
          <a:p>
            <a:pPr marL="0" indent="0" algn="l">
              <a:lnSpc>
                <a:spcPct val="104000"/>
              </a:lnSpc>
              <a:buNone/>
            </a:pPr>
            <a:r>
              <a:rPr lang="en-US" sz="1100" dirty="0">
                <a:solidFill>
                  <a:srgbClr val="55575A"/>
                </a:solidFill>
                <a:latin typeface="Inter" panose="02000503000000020004" pitchFamily="34" charset="0"/>
                <a:ea typeface="Inter" panose="02000503000000020004" pitchFamily="34" charset="-122"/>
                <a:cs typeface="Inter" panose="02000503000000020004" pitchFamily="34" charset="-120"/>
              </a:rPr>
              <a:t>Unexpected Attachments</a:t>
            </a:r>
            <a:endParaRPr lang="en-US" sz="1100" dirty="0"/>
          </a:p>
        </p:txBody>
      </p:sp>
      <p:sp>
        <p:nvSpPr>
          <p:cNvPr id="20" name="Text 18"/>
          <p:cNvSpPr/>
          <p:nvPr/>
        </p:nvSpPr>
        <p:spPr>
          <a:xfrm>
            <a:off x="835819" y="4593059"/>
            <a:ext cx="7843019" cy="180231"/>
          </a:xfrm>
          <a:prstGeom prst="rect">
            <a:avLst/>
          </a:prstGeom>
          <a:noFill/>
        </p:spPr>
        <p:txBody>
          <a:bodyPr wrap="none" lIns="0" tIns="0" rIns="0" bIns="0" rtlCol="0" anchor="t"/>
          <a:lstStyle/>
          <a:p>
            <a:pPr marL="0" indent="0" algn="l">
              <a:lnSpc>
                <a:spcPct val="129000"/>
              </a:lnSpc>
              <a:buNone/>
            </a:pPr>
            <a:r>
              <a:rPr lang="en-US" sz="900" dirty="0">
                <a:solidFill>
                  <a:srgbClr val="55575A"/>
                </a:solidFill>
                <a:latin typeface="Manrope" pitchFamily="34" charset="0"/>
                <a:ea typeface="Manrope" pitchFamily="34" charset="-122"/>
                <a:cs typeface="Manrope" pitchFamily="34" charset="-120"/>
              </a:rPr>
              <a:t>Be wary of unsolicited attachments, especially if they are executable files (.exe) or compressed archives (.zip).</a:t>
            </a:r>
            <a:endParaRPr lang="en-US" sz="900" dirty="0"/>
          </a:p>
        </p:txBody>
      </p:sp>
      <p:sp>
        <p:nvSpPr>
          <p:cNvPr id="23" name="Rectangle 22"/>
          <p:cNvSpPr/>
          <p:nvPr/>
        </p:nvSpPr>
        <p:spPr>
          <a:xfrm>
            <a:off x="7931785" y="4747895"/>
            <a:ext cx="1212215" cy="39624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85875" y="391641"/>
            <a:ext cx="2989362" cy="208359"/>
          </a:xfrm>
          <a:prstGeom prst="rect">
            <a:avLst/>
          </a:prstGeom>
          <a:noFill/>
        </p:spPr>
        <p:txBody>
          <a:bodyPr wrap="none" lIns="0" tIns="0" rIns="0" bIns="0" rtlCol="0" anchor="t"/>
          <a:lstStyle/>
          <a:p>
            <a:pPr marL="0" indent="0" algn="l">
              <a:lnSpc>
                <a:spcPct val="104000"/>
              </a:lnSpc>
              <a:buNone/>
            </a:pPr>
            <a:r>
              <a:rPr lang="en-US" sz="1300" dirty="0">
                <a:solidFill>
                  <a:srgbClr val="0C0D0F"/>
                </a:solidFill>
                <a:latin typeface="Inter" panose="02000503000000020004" pitchFamily="34" charset="0"/>
                <a:ea typeface="Inter" panose="02000503000000020004" pitchFamily="34" charset="-122"/>
                <a:cs typeface="Inter" panose="02000503000000020004" pitchFamily="34" charset="-120"/>
              </a:rPr>
              <a:t>Identifying Counterfeit Websites</a:t>
            </a:r>
            <a:endParaRPr lang="en-US" sz="1300" dirty="0"/>
          </a:p>
        </p:txBody>
      </p:sp>
      <p:sp>
        <p:nvSpPr>
          <p:cNvPr id="5" name="Text 3"/>
          <p:cNvSpPr/>
          <p:nvPr/>
        </p:nvSpPr>
        <p:spPr>
          <a:xfrm>
            <a:off x="1285875" y="683940"/>
            <a:ext cx="6572250" cy="222945"/>
          </a:xfrm>
          <a:prstGeom prst="rect">
            <a:avLst/>
          </a:prstGeom>
          <a:noFill/>
        </p:spPr>
        <p:txBody>
          <a:bodyPr wrap="square" lIns="0" tIns="0" rIns="0" bIns="0" rtlCol="0" anchor="t">
            <a:normAutofit/>
          </a:bodyPr>
          <a:lstStyle/>
          <a:p>
            <a:pPr marL="0" indent="0" algn="l">
              <a:lnSpc>
                <a:spcPct val="111000"/>
              </a:lnSpc>
              <a:buNone/>
            </a:pPr>
            <a:r>
              <a:rPr lang="en-US" sz="650" dirty="0">
                <a:solidFill>
                  <a:srgbClr val="55575A"/>
                </a:solidFill>
                <a:latin typeface="Manrope" pitchFamily="34" charset="0"/>
                <a:ea typeface="Manrope" pitchFamily="34" charset="-122"/>
                <a:cs typeface="Manrope" pitchFamily="34" charset="-120"/>
              </a:rPr>
              <a:t> Phishing attacks often redirect users to fake websites designed to look identical to legitimate ones. These sites are crafted to steal your login credentials or other personal information. Knowing what to look for can prevent you from falling victim to these convincing replicas. </a:t>
            </a:r>
            <a:endParaRPr lang="en-US" sz="650" dirty="0"/>
          </a:p>
        </p:txBody>
      </p:sp>
      <p:pic>
        <p:nvPicPr>
          <p:cNvPr id="6" name="Image 0" descr="preencoded.png"/>
          <p:cNvPicPr>
            <a:picLocks noChangeAspect="1"/>
          </p:cNvPicPr>
          <p:nvPr/>
        </p:nvPicPr>
        <p:blipFill>
          <a:blip r:embed="rId1"/>
          <a:stretch>
            <a:fillRect/>
          </a:stretch>
        </p:blipFill>
        <p:spPr>
          <a:xfrm>
            <a:off x="1285875" y="969838"/>
            <a:ext cx="6553200" cy="3657600"/>
          </a:xfrm>
          <a:prstGeom prst="rect">
            <a:avLst/>
          </a:prstGeom>
        </p:spPr>
      </p:pic>
      <p:sp>
        <p:nvSpPr>
          <p:cNvPr id="7" name="Text 4"/>
          <p:cNvSpPr/>
          <p:nvPr/>
        </p:nvSpPr>
        <p:spPr>
          <a:xfrm>
            <a:off x="1285875" y="4690393"/>
            <a:ext cx="6572250" cy="222945"/>
          </a:xfrm>
          <a:prstGeom prst="rect">
            <a:avLst/>
          </a:prstGeom>
          <a:noFill/>
        </p:spPr>
        <p:txBody>
          <a:bodyPr wrap="square" lIns="0" tIns="0" rIns="0" bIns="0" rtlCol="0" anchor="t">
            <a:normAutofit/>
          </a:bodyPr>
          <a:lstStyle/>
          <a:p>
            <a:pPr marL="0" indent="0" algn="l">
              <a:lnSpc>
                <a:spcPct val="111000"/>
              </a:lnSpc>
              <a:buNone/>
            </a:pPr>
            <a:r>
              <a:rPr lang="en-US" sz="650" dirty="0">
                <a:solidFill>
                  <a:srgbClr val="55575A"/>
                </a:solidFill>
                <a:latin typeface="Manrope" pitchFamily="34" charset="0"/>
                <a:ea typeface="Manrope" pitchFamily="34" charset="-122"/>
                <a:cs typeface="Manrope" pitchFamily="34" charset="-120"/>
              </a:rPr>
              <a:t> Always double-check the URL in your browser's address bar. Even a single character difference can indicate a fraudulent site. If something feels off, trust your instincts and navigate directly to the official website instead of clicking links.</a:t>
            </a:r>
            <a:endParaRPr lang="en-US" sz="650" dirty="0"/>
          </a:p>
        </p:txBody>
      </p:sp>
      <p:sp>
        <p:nvSpPr>
          <p:cNvPr id="23" name="Rectangle 22"/>
          <p:cNvSpPr/>
          <p:nvPr/>
        </p:nvSpPr>
        <p:spPr>
          <a:xfrm>
            <a:off x="7931785" y="4747895"/>
            <a:ext cx="1212215" cy="39624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565275" y="-157480"/>
            <a:ext cx="156845" cy="646430"/>
          </a:xfrm>
          <a:prstGeom prst="rect">
            <a:avLst/>
          </a:prstGeom>
          <a:noFill/>
        </p:spPr>
        <p:txBody>
          <a:bodyPr wrap="none" lIns="0" tIns="0" rIns="0" bIns="0" rtlCol="0" anchor="t"/>
          <a:lstStyle/>
          <a:p>
            <a:pPr marL="0" indent="0" algn="l">
              <a:lnSpc>
                <a:spcPct val="128000"/>
              </a:lnSpc>
              <a:buNone/>
            </a:pPr>
            <a:endParaRPr lang="en-US" sz="700" dirty="0"/>
          </a:p>
        </p:txBody>
      </p:sp>
      <p:sp>
        <p:nvSpPr>
          <p:cNvPr id="4" name="Text 2"/>
          <p:cNvSpPr/>
          <p:nvPr/>
        </p:nvSpPr>
        <p:spPr>
          <a:xfrm>
            <a:off x="457349" y="565770"/>
            <a:ext cx="5832351" cy="285824"/>
          </a:xfrm>
          <a:prstGeom prst="rect">
            <a:avLst/>
          </a:prstGeom>
          <a:noFill/>
        </p:spPr>
        <p:txBody>
          <a:bodyPr wrap="none" lIns="0" tIns="0" rIns="0" bIns="0" rtlCol="0" anchor="t"/>
          <a:lstStyle/>
          <a:p>
            <a:pPr marL="0" indent="0" algn="l">
              <a:lnSpc>
                <a:spcPct val="104000"/>
              </a:lnSpc>
              <a:buNone/>
            </a:pPr>
            <a:r>
              <a:rPr lang="en-US" sz="1800" dirty="0">
                <a:solidFill>
                  <a:srgbClr val="0C0D0F"/>
                </a:solidFill>
                <a:latin typeface="Inter" panose="02000503000000020004" pitchFamily="34" charset="0"/>
                <a:ea typeface="Inter" panose="02000503000000020004" pitchFamily="34" charset="-122"/>
                <a:cs typeface="Inter" panose="02000503000000020004" pitchFamily="34" charset="-120"/>
              </a:rPr>
              <a:t>Social Engineering: Manipulating Human Behavior</a:t>
            </a:r>
            <a:endParaRPr lang="en-US" sz="1800" dirty="0"/>
          </a:p>
        </p:txBody>
      </p:sp>
      <p:sp>
        <p:nvSpPr>
          <p:cNvPr id="5" name="Text 3"/>
          <p:cNvSpPr/>
          <p:nvPr/>
        </p:nvSpPr>
        <p:spPr>
          <a:xfrm>
            <a:off x="457349" y="1009724"/>
            <a:ext cx="8229302" cy="351681"/>
          </a:xfrm>
          <a:prstGeom prst="rect">
            <a:avLst/>
          </a:prstGeom>
          <a:noFill/>
        </p:spPr>
        <p:txBody>
          <a:bodyPr wrap="square" lIns="0" tIns="0" rIns="0" bIns="0" rtlCol="0" anchor="t">
            <a:normAutofit/>
          </a:bodyPr>
          <a:lstStyle/>
          <a:p>
            <a:pPr marL="0" indent="0" algn="l">
              <a:lnSpc>
                <a:spcPct val="128000"/>
              </a:lnSpc>
              <a:buNone/>
            </a:pPr>
            <a:r>
              <a:rPr lang="en-US" sz="900" dirty="0">
                <a:solidFill>
                  <a:srgbClr val="55575A"/>
                </a:solidFill>
                <a:latin typeface="Manrope" pitchFamily="34" charset="0"/>
                <a:ea typeface="Manrope" pitchFamily="34" charset="-122"/>
                <a:cs typeface="Manrope" pitchFamily="34" charset="-120"/>
              </a:rPr>
              <a:t> Phishing thrives on social engineering, a psychological manipulation that tricks users into performing actions or divulging confidential information. Attackers exploit natural human tendencies like trust, fear, and curiosity to bypass logical reasoning. </a:t>
            </a:r>
            <a:endParaRPr lang="en-US" sz="900" dirty="0"/>
          </a:p>
        </p:txBody>
      </p:sp>
      <p:sp>
        <p:nvSpPr>
          <p:cNvPr id="6" name="Text 4"/>
          <p:cNvSpPr/>
          <p:nvPr/>
        </p:nvSpPr>
        <p:spPr>
          <a:xfrm>
            <a:off x="1702445" y="1948160"/>
            <a:ext cx="1429420" cy="178668"/>
          </a:xfrm>
          <a:prstGeom prst="rect">
            <a:avLst/>
          </a:prstGeom>
          <a:noFill/>
        </p:spPr>
        <p:txBody>
          <a:bodyPr wrap="none" lIns="0" tIns="0" rIns="0" bIns="0" rtlCol="0" anchor="t"/>
          <a:lstStyle/>
          <a:p>
            <a:pPr marL="0" indent="0" algn="r">
              <a:lnSpc>
                <a:spcPct val="104000"/>
              </a:lnSpc>
              <a:buNone/>
            </a:pPr>
            <a:r>
              <a:rPr lang="en-US" sz="1100" dirty="0">
                <a:solidFill>
                  <a:srgbClr val="55575A"/>
                </a:solidFill>
                <a:latin typeface="Inter" panose="02000503000000020004" pitchFamily="34" charset="0"/>
                <a:ea typeface="Inter" panose="02000503000000020004" pitchFamily="34" charset="-122"/>
                <a:cs typeface="Inter" panose="02000503000000020004" pitchFamily="34" charset="-120"/>
              </a:rPr>
              <a:t>Urgency</a:t>
            </a:r>
            <a:endParaRPr lang="en-US" sz="1100" dirty="0"/>
          </a:p>
        </p:txBody>
      </p:sp>
      <p:sp>
        <p:nvSpPr>
          <p:cNvPr id="7" name="Text 5"/>
          <p:cNvSpPr/>
          <p:nvPr/>
        </p:nvSpPr>
        <p:spPr>
          <a:xfrm>
            <a:off x="457349" y="2190080"/>
            <a:ext cx="2674516" cy="175840"/>
          </a:xfrm>
          <a:prstGeom prst="rect">
            <a:avLst/>
          </a:prstGeom>
          <a:noFill/>
        </p:spPr>
        <p:txBody>
          <a:bodyPr wrap="none" lIns="0" tIns="0" rIns="0" bIns="0" rtlCol="0" anchor="t"/>
          <a:lstStyle/>
          <a:p>
            <a:pPr marL="0" indent="0" algn="r">
              <a:lnSpc>
                <a:spcPct val="128000"/>
              </a:lnSpc>
              <a:buNone/>
            </a:pPr>
            <a:r>
              <a:rPr lang="en-US" sz="900" dirty="0">
                <a:solidFill>
                  <a:srgbClr val="55575A"/>
                </a:solidFill>
                <a:latin typeface="Manrope" pitchFamily="34" charset="0"/>
                <a:ea typeface="Manrope" pitchFamily="34" charset="-122"/>
                <a:cs typeface="Manrope" pitchFamily="34" charset="-120"/>
              </a:rPr>
              <a:t>"Your account will be blocked!"</a:t>
            </a:r>
            <a:endParaRPr lang="en-US" sz="900" dirty="0"/>
          </a:p>
        </p:txBody>
      </p:sp>
      <p:pic>
        <p:nvPicPr>
          <p:cNvPr id="8" name="Image 0" descr="preencoded.png"/>
          <p:cNvPicPr>
            <a:picLocks noChangeAspect="1"/>
          </p:cNvPicPr>
          <p:nvPr/>
        </p:nvPicPr>
        <p:blipFill>
          <a:blip r:embed="rId1"/>
          <a:stretch>
            <a:fillRect/>
          </a:stretch>
        </p:blipFill>
        <p:spPr>
          <a:xfrm>
            <a:off x="3131865" y="1479947"/>
            <a:ext cx="2880196" cy="2880196"/>
          </a:xfrm>
          <a:prstGeom prst="rect">
            <a:avLst/>
          </a:prstGeom>
        </p:spPr>
      </p:pic>
      <p:pic>
        <p:nvPicPr>
          <p:cNvPr id="9"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91521" y="2403686"/>
            <a:ext cx="160809" cy="160809"/>
          </a:xfrm>
          <a:prstGeom prst="rect">
            <a:avLst/>
          </a:prstGeom>
        </p:spPr>
      </p:pic>
      <p:sp>
        <p:nvSpPr>
          <p:cNvPr id="10" name="Text 6"/>
          <p:cNvSpPr/>
          <p:nvPr/>
        </p:nvSpPr>
        <p:spPr>
          <a:xfrm>
            <a:off x="6012061" y="1693887"/>
            <a:ext cx="1429420" cy="178668"/>
          </a:xfrm>
          <a:prstGeom prst="rect">
            <a:avLst/>
          </a:prstGeom>
          <a:noFill/>
        </p:spPr>
        <p:txBody>
          <a:bodyPr wrap="none" lIns="0" tIns="0" rIns="0" bIns="0" rtlCol="0" anchor="t"/>
          <a:lstStyle/>
          <a:p>
            <a:pPr marL="0" indent="0" algn="l">
              <a:lnSpc>
                <a:spcPct val="104000"/>
              </a:lnSpc>
              <a:buNone/>
            </a:pPr>
            <a:r>
              <a:rPr lang="en-US" sz="1100" dirty="0">
                <a:solidFill>
                  <a:srgbClr val="55575A"/>
                </a:solidFill>
                <a:latin typeface="Inter" panose="02000503000000020004" pitchFamily="34" charset="0"/>
                <a:ea typeface="Inter" panose="02000503000000020004" pitchFamily="34" charset="-122"/>
                <a:cs typeface="Inter" panose="02000503000000020004" pitchFamily="34" charset="-120"/>
              </a:rPr>
              <a:t>Authority</a:t>
            </a:r>
            <a:endParaRPr lang="en-US" sz="1100" dirty="0"/>
          </a:p>
        </p:txBody>
      </p:sp>
      <p:sp>
        <p:nvSpPr>
          <p:cNvPr id="11" name="Text 7"/>
          <p:cNvSpPr/>
          <p:nvPr/>
        </p:nvSpPr>
        <p:spPr>
          <a:xfrm>
            <a:off x="6012061" y="1935807"/>
            <a:ext cx="2674590" cy="175840"/>
          </a:xfrm>
          <a:prstGeom prst="rect">
            <a:avLst/>
          </a:prstGeom>
          <a:noFill/>
        </p:spPr>
        <p:txBody>
          <a:bodyPr wrap="none" lIns="0" tIns="0" rIns="0" bIns="0" rtlCol="0" anchor="t"/>
          <a:lstStyle/>
          <a:p>
            <a:pPr marL="0" indent="0" algn="l">
              <a:lnSpc>
                <a:spcPct val="128000"/>
              </a:lnSpc>
              <a:buNone/>
            </a:pPr>
            <a:r>
              <a:rPr lang="en-US" sz="900" dirty="0">
                <a:solidFill>
                  <a:srgbClr val="55575A"/>
                </a:solidFill>
                <a:latin typeface="Manrope" pitchFamily="34" charset="0"/>
                <a:ea typeface="Manrope" pitchFamily="34" charset="-122"/>
                <a:cs typeface="Manrope" pitchFamily="34" charset="-120"/>
              </a:rPr>
              <a:t>Pretending to be bank or admin.</a:t>
            </a:r>
            <a:endParaRPr lang="en-US" sz="900" dirty="0"/>
          </a:p>
        </p:txBody>
      </p:sp>
      <p:pic>
        <p:nvPicPr>
          <p:cNvPr id="12" name="Image 2" descr="preencoded.png"/>
          <p:cNvPicPr>
            <a:picLocks noChangeAspect="1"/>
          </p:cNvPicPr>
          <p:nvPr/>
        </p:nvPicPr>
        <p:blipFill>
          <a:blip r:embed="rId4"/>
          <a:stretch>
            <a:fillRect/>
          </a:stretch>
        </p:blipFill>
        <p:spPr>
          <a:xfrm>
            <a:off x="3131865" y="1479947"/>
            <a:ext cx="2880196" cy="2880196"/>
          </a:xfrm>
          <a:prstGeom prst="rect">
            <a:avLst/>
          </a:prstGeom>
        </p:spPr>
      </p:pic>
      <p:pic>
        <p:nvPicPr>
          <p:cNvPr id="13" name="Image 3" descr="preencoded.png"/>
          <p:cNvPicPr>
            <a:picLocks noChangeAspect="1"/>
          </p:cNvPicPr>
          <p:nvPr/>
        </p:nvPicPr>
        <p:blipFill>
          <a:blip r:embed="rId2">
            <a:extLst>
              <a:ext uri="{96DAC541-7B7A-43D3-8B79-37D633B846F1}">
                <asvg:svgBlip xmlns:asvg="http://schemas.microsoft.com/office/drawing/2016/SVG/main" r:embed="rId5"/>
              </a:ext>
            </a:extLst>
          </a:blip>
          <a:stretch>
            <a:fillRect/>
          </a:stretch>
        </p:blipFill>
        <p:spPr>
          <a:xfrm>
            <a:off x="4720717" y="2134233"/>
            <a:ext cx="160809" cy="160809"/>
          </a:xfrm>
          <a:prstGeom prst="rect">
            <a:avLst/>
          </a:prstGeom>
        </p:spPr>
      </p:pic>
      <p:sp>
        <p:nvSpPr>
          <p:cNvPr id="14" name="Text 8"/>
          <p:cNvSpPr/>
          <p:nvPr/>
        </p:nvSpPr>
        <p:spPr>
          <a:xfrm>
            <a:off x="6240735" y="2711128"/>
            <a:ext cx="1429420" cy="178668"/>
          </a:xfrm>
          <a:prstGeom prst="rect">
            <a:avLst/>
          </a:prstGeom>
          <a:noFill/>
        </p:spPr>
        <p:txBody>
          <a:bodyPr wrap="none" lIns="0" tIns="0" rIns="0" bIns="0" rtlCol="0" anchor="t"/>
          <a:lstStyle/>
          <a:p>
            <a:pPr marL="0" indent="0" algn="l">
              <a:lnSpc>
                <a:spcPct val="104000"/>
              </a:lnSpc>
              <a:buNone/>
            </a:pPr>
            <a:r>
              <a:rPr lang="en-US" sz="1100" dirty="0">
                <a:solidFill>
                  <a:srgbClr val="55575A"/>
                </a:solidFill>
                <a:latin typeface="Inter" panose="02000503000000020004" pitchFamily="34" charset="0"/>
                <a:ea typeface="Inter" panose="02000503000000020004" pitchFamily="34" charset="-122"/>
                <a:cs typeface="Inter" panose="02000503000000020004" pitchFamily="34" charset="-120"/>
              </a:rPr>
              <a:t>Fear</a:t>
            </a:r>
            <a:endParaRPr lang="en-US" sz="1100" dirty="0"/>
          </a:p>
        </p:txBody>
      </p:sp>
      <p:sp>
        <p:nvSpPr>
          <p:cNvPr id="15" name="Text 9"/>
          <p:cNvSpPr/>
          <p:nvPr/>
        </p:nvSpPr>
        <p:spPr>
          <a:xfrm>
            <a:off x="6240735" y="2953048"/>
            <a:ext cx="2445916" cy="175840"/>
          </a:xfrm>
          <a:prstGeom prst="rect">
            <a:avLst/>
          </a:prstGeom>
          <a:noFill/>
        </p:spPr>
        <p:txBody>
          <a:bodyPr wrap="none" lIns="0" tIns="0" rIns="0" bIns="0" rtlCol="0" anchor="t"/>
          <a:lstStyle/>
          <a:p>
            <a:pPr marL="0" indent="0" algn="l">
              <a:lnSpc>
                <a:spcPct val="128000"/>
              </a:lnSpc>
              <a:buNone/>
            </a:pPr>
            <a:r>
              <a:rPr lang="en-US" sz="900" dirty="0">
                <a:solidFill>
                  <a:srgbClr val="55575A"/>
                </a:solidFill>
                <a:latin typeface="Manrope" pitchFamily="34" charset="0"/>
                <a:ea typeface="Manrope" pitchFamily="34" charset="-122"/>
                <a:cs typeface="Manrope" pitchFamily="34" charset="-120"/>
              </a:rPr>
              <a:t>Threatening consequences.</a:t>
            </a:r>
            <a:endParaRPr lang="en-US" sz="900" dirty="0"/>
          </a:p>
        </p:txBody>
      </p:sp>
      <p:pic>
        <p:nvPicPr>
          <p:cNvPr id="16" name="Image 4" descr="preencoded.png"/>
          <p:cNvPicPr>
            <a:picLocks noChangeAspect="1"/>
          </p:cNvPicPr>
          <p:nvPr/>
        </p:nvPicPr>
        <p:blipFill>
          <a:blip r:embed="rId6"/>
          <a:stretch>
            <a:fillRect/>
          </a:stretch>
        </p:blipFill>
        <p:spPr>
          <a:xfrm>
            <a:off x="3131865" y="1479947"/>
            <a:ext cx="2880196" cy="2880196"/>
          </a:xfrm>
          <a:prstGeom prst="rect">
            <a:avLst/>
          </a:prstGeom>
        </p:spPr>
      </p:pic>
      <p:pic>
        <p:nvPicPr>
          <p:cNvPr id="17" name="Image 5" descr="preencoded.png"/>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5233206" y="2839603"/>
            <a:ext cx="160809" cy="160809"/>
          </a:xfrm>
          <a:prstGeom prst="rect">
            <a:avLst/>
          </a:prstGeom>
        </p:spPr>
      </p:pic>
      <p:sp>
        <p:nvSpPr>
          <p:cNvPr id="18" name="Text 10"/>
          <p:cNvSpPr/>
          <p:nvPr/>
        </p:nvSpPr>
        <p:spPr>
          <a:xfrm>
            <a:off x="6012061" y="3728368"/>
            <a:ext cx="1429420" cy="178668"/>
          </a:xfrm>
          <a:prstGeom prst="rect">
            <a:avLst/>
          </a:prstGeom>
          <a:noFill/>
        </p:spPr>
        <p:txBody>
          <a:bodyPr wrap="none" lIns="0" tIns="0" rIns="0" bIns="0" rtlCol="0" anchor="t"/>
          <a:lstStyle/>
          <a:p>
            <a:pPr marL="0" indent="0" algn="l">
              <a:lnSpc>
                <a:spcPct val="104000"/>
              </a:lnSpc>
              <a:buNone/>
            </a:pPr>
            <a:r>
              <a:rPr lang="en-US" sz="1100" dirty="0">
                <a:solidFill>
                  <a:srgbClr val="55575A"/>
                </a:solidFill>
                <a:latin typeface="Inter" panose="02000503000000020004" pitchFamily="34" charset="0"/>
                <a:ea typeface="Inter" panose="02000503000000020004" pitchFamily="34" charset="-122"/>
                <a:cs typeface="Inter" panose="02000503000000020004" pitchFamily="34" charset="-120"/>
              </a:rPr>
              <a:t>Curiosity</a:t>
            </a:r>
            <a:endParaRPr lang="en-US" sz="1100" dirty="0"/>
          </a:p>
        </p:txBody>
      </p:sp>
      <p:sp>
        <p:nvSpPr>
          <p:cNvPr id="19" name="Text 11"/>
          <p:cNvSpPr/>
          <p:nvPr/>
        </p:nvSpPr>
        <p:spPr>
          <a:xfrm>
            <a:off x="6012061" y="3970288"/>
            <a:ext cx="2674590" cy="175840"/>
          </a:xfrm>
          <a:prstGeom prst="rect">
            <a:avLst/>
          </a:prstGeom>
          <a:noFill/>
        </p:spPr>
        <p:txBody>
          <a:bodyPr wrap="none" lIns="0" tIns="0" rIns="0" bIns="0" rtlCol="0" anchor="t"/>
          <a:lstStyle/>
          <a:p>
            <a:pPr marL="0" indent="0" algn="l">
              <a:lnSpc>
                <a:spcPct val="128000"/>
              </a:lnSpc>
              <a:buNone/>
            </a:pPr>
            <a:r>
              <a:rPr lang="en-US" sz="900" dirty="0">
                <a:solidFill>
                  <a:srgbClr val="55575A"/>
                </a:solidFill>
                <a:latin typeface="Manrope" pitchFamily="34" charset="0"/>
                <a:ea typeface="Manrope" pitchFamily="34" charset="-122"/>
                <a:cs typeface="Manrope" pitchFamily="34" charset="-120"/>
              </a:rPr>
              <a:t>"You won a prize!"</a:t>
            </a:r>
            <a:endParaRPr lang="en-US" sz="900" dirty="0"/>
          </a:p>
        </p:txBody>
      </p:sp>
      <p:pic>
        <p:nvPicPr>
          <p:cNvPr id="20" name="Image 6" descr="preencoded.png"/>
          <p:cNvPicPr>
            <a:picLocks noChangeAspect="1"/>
          </p:cNvPicPr>
          <p:nvPr/>
        </p:nvPicPr>
        <p:blipFill>
          <a:blip r:embed="rId8"/>
          <a:stretch>
            <a:fillRect/>
          </a:stretch>
        </p:blipFill>
        <p:spPr>
          <a:xfrm>
            <a:off x="3131865" y="1479947"/>
            <a:ext cx="2880196" cy="2880196"/>
          </a:xfrm>
          <a:prstGeom prst="rect">
            <a:avLst/>
          </a:prstGeom>
        </p:spPr>
      </p:pic>
      <p:pic>
        <p:nvPicPr>
          <p:cNvPr id="21" name="Image 7" descr="preencoded.png"/>
          <p:cNvPicPr>
            <a:picLocks noChangeAspect="1"/>
          </p:cNvPicPr>
          <p:nvPr/>
        </p:nvPicPr>
        <p:blipFill>
          <a:blip r:embed="rId2">
            <a:extLst>
              <a:ext uri="{96DAC541-7B7A-43D3-8B79-37D633B846F1}">
                <asvg:svgBlip xmlns:asvg="http://schemas.microsoft.com/office/drawing/2016/SVG/main" r:embed="rId9"/>
              </a:ext>
            </a:extLst>
          </a:blip>
          <a:stretch>
            <a:fillRect/>
          </a:stretch>
        </p:blipFill>
        <p:spPr>
          <a:xfrm>
            <a:off x="4720717" y="3544974"/>
            <a:ext cx="160809" cy="160809"/>
          </a:xfrm>
          <a:prstGeom prst="rect">
            <a:avLst/>
          </a:prstGeom>
        </p:spPr>
      </p:pic>
      <p:sp>
        <p:nvSpPr>
          <p:cNvPr id="22" name="Text 12"/>
          <p:cNvSpPr/>
          <p:nvPr/>
        </p:nvSpPr>
        <p:spPr>
          <a:xfrm>
            <a:off x="1702445" y="3474021"/>
            <a:ext cx="1429420" cy="178668"/>
          </a:xfrm>
          <a:prstGeom prst="rect">
            <a:avLst/>
          </a:prstGeom>
          <a:noFill/>
        </p:spPr>
        <p:txBody>
          <a:bodyPr wrap="none" lIns="0" tIns="0" rIns="0" bIns="0" rtlCol="0" anchor="t"/>
          <a:lstStyle/>
          <a:p>
            <a:pPr marL="0" indent="0" algn="r">
              <a:lnSpc>
                <a:spcPct val="104000"/>
              </a:lnSpc>
              <a:buNone/>
            </a:pPr>
            <a:r>
              <a:rPr lang="en-US" sz="1100" dirty="0">
                <a:solidFill>
                  <a:srgbClr val="55575A"/>
                </a:solidFill>
                <a:latin typeface="Inter" panose="02000503000000020004" pitchFamily="34" charset="0"/>
                <a:ea typeface="Inter" panose="02000503000000020004" pitchFamily="34" charset="-122"/>
                <a:cs typeface="Inter" panose="02000503000000020004" pitchFamily="34" charset="-120"/>
              </a:rPr>
              <a:t>Trust</a:t>
            </a:r>
            <a:endParaRPr lang="en-US" sz="1100" dirty="0"/>
          </a:p>
        </p:txBody>
      </p:sp>
      <p:sp>
        <p:nvSpPr>
          <p:cNvPr id="23" name="Text 13"/>
          <p:cNvSpPr/>
          <p:nvPr/>
        </p:nvSpPr>
        <p:spPr>
          <a:xfrm>
            <a:off x="457349" y="3715941"/>
            <a:ext cx="2674516" cy="175840"/>
          </a:xfrm>
          <a:prstGeom prst="rect">
            <a:avLst/>
          </a:prstGeom>
          <a:noFill/>
        </p:spPr>
        <p:txBody>
          <a:bodyPr wrap="none" lIns="0" tIns="0" rIns="0" bIns="0" rtlCol="0" anchor="t"/>
          <a:lstStyle/>
          <a:p>
            <a:pPr marL="0" indent="0" algn="r">
              <a:lnSpc>
                <a:spcPct val="128000"/>
              </a:lnSpc>
              <a:buNone/>
            </a:pPr>
            <a:r>
              <a:rPr lang="en-US" sz="900" dirty="0">
                <a:solidFill>
                  <a:srgbClr val="55575A"/>
                </a:solidFill>
                <a:latin typeface="Manrope" pitchFamily="34" charset="0"/>
                <a:ea typeface="Manrope" pitchFamily="34" charset="-122"/>
                <a:cs typeface="Manrope" pitchFamily="34" charset="-120"/>
              </a:rPr>
              <a:t>Acting as a known contact.</a:t>
            </a:r>
            <a:endParaRPr lang="en-US" sz="900" dirty="0"/>
          </a:p>
        </p:txBody>
      </p:sp>
      <p:pic>
        <p:nvPicPr>
          <p:cNvPr id="24" name="Image 8" descr="preencoded.png"/>
          <p:cNvPicPr>
            <a:picLocks noChangeAspect="1"/>
          </p:cNvPicPr>
          <p:nvPr/>
        </p:nvPicPr>
        <p:blipFill>
          <a:blip r:embed="rId10"/>
          <a:stretch>
            <a:fillRect/>
          </a:stretch>
        </p:blipFill>
        <p:spPr>
          <a:xfrm>
            <a:off x="3131865" y="1479947"/>
            <a:ext cx="2880196" cy="2880196"/>
          </a:xfrm>
          <a:prstGeom prst="rect">
            <a:avLst/>
          </a:prstGeom>
        </p:spPr>
      </p:pic>
      <p:pic>
        <p:nvPicPr>
          <p:cNvPr id="25" name="Image 9" descr="preencoded.png"/>
          <p:cNvPicPr>
            <a:picLocks noChangeAspect="1"/>
          </p:cNvPicPr>
          <p:nvPr/>
        </p:nvPicPr>
        <p:blipFill>
          <a:blip r:embed="rId2">
            <a:extLst>
              <a:ext uri="{96DAC541-7B7A-43D3-8B79-37D633B846F1}">
                <asvg:svgBlip xmlns:asvg="http://schemas.microsoft.com/office/drawing/2016/SVG/main" r:embed="rId11"/>
              </a:ext>
            </a:extLst>
          </a:blip>
          <a:stretch>
            <a:fillRect/>
          </a:stretch>
        </p:blipFill>
        <p:spPr>
          <a:xfrm>
            <a:off x="3891521" y="3275521"/>
            <a:ext cx="160809" cy="160809"/>
          </a:xfrm>
          <a:prstGeom prst="rect">
            <a:avLst/>
          </a:prstGeom>
        </p:spPr>
      </p:pic>
      <p:sp>
        <p:nvSpPr>
          <p:cNvPr id="26" name="Text 14"/>
          <p:cNvSpPr/>
          <p:nvPr/>
        </p:nvSpPr>
        <p:spPr>
          <a:xfrm>
            <a:off x="457349" y="4478685"/>
            <a:ext cx="8229302" cy="351681"/>
          </a:xfrm>
          <a:prstGeom prst="rect">
            <a:avLst/>
          </a:prstGeom>
          <a:noFill/>
        </p:spPr>
        <p:txBody>
          <a:bodyPr wrap="square" lIns="0" tIns="0" rIns="0" bIns="0" rtlCol="0" anchor="t">
            <a:normAutofit/>
          </a:bodyPr>
          <a:lstStyle/>
          <a:p>
            <a:pPr marL="0" indent="0" algn="l">
              <a:lnSpc>
                <a:spcPct val="128000"/>
              </a:lnSpc>
              <a:buNone/>
            </a:pPr>
            <a:r>
              <a:rPr lang="en-US" sz="900" dirty="0">
                <a:solidFill>
                  <a:srgbClr val="55575A"/>
                </a:solidFill>
                <a:latin typeface="Manrope" pitchFamily="34" charset="0"/>
                <a:ea typeface="Manrope" pitchFamily="34" charset="-122"/>
                <a:cs typeface="Manrope" pitchFamily="34" charset="-120"/>
              </a:rPr>
              <a:t> Understanding these psychological triggers is your first line of defense. When an email or message plays on these emotions, pause and critically evaluate the situation before responding.</a:t>
            </a:r>
            <a:endParaRPr lang="en-US" sz="900" dirty="0"/>
          </a:p>
        </p:txBody>
      </p:sp>
      <p:sp>
        <p:nvSpPr>
          <p:cNvPr id="27" name="Rectangle 26"/>
          <p:cNvSpPr/>
          <p:nvPr/>
        </p:nvSpPr>
        <p:spPr>
          <a:xfrm>
            <a:off x="7931785" y="4758690"/>
            <a:ext cx="1212215" cy="39624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26393" y="553120"/>
            <a:ext cx="3637955" cy="266477"/>
          </a:xfrm>
          <a:prstGeom prst="rect">
            <a:avLst/>
          </a:prstGeom>
          <a:noFill/>
        </p:spPr>
        <p:txBody>
          <a:bodyPr wrap="none" lIns="0" tIns="0" rIns="0" bIns="0" rtlCol="0" anchor="t"/>
          <a:lstStyle/>
          <a:p>
            <a:pPr marL="0" indent="0" algn="l">
              <a:lnSpc>
                <a:spcPct val="104000"/>
              </a:lnSpc>
              <a:buNone/>
            </a:pPr>
            <a:r>
              <a:rPr lang="en-US" sz="1650" dirty="0">
                <a:solidFill>
                  <a:srgbClr val="0C0D0F"/>
                </a:solidFill>
                <a:latin typeface="Inter" panose="02000503000000020004" pitchFamily="34" charset="0"/>
                <a:ea typeface="Inter" panose="02000503000000020004" pitchFamily="34" charset="-122"/>
                <a:cs typeface="Inter" panose="02000503000000020004" pitchFamily="34" charset="-120"/>
              </a:rPr>
              <a:t>Best Practices for Digital Safety</a:t>
            </a:r>
            <a:endParaRPr lang="en-US" sz="1650" dirty="0"/>
          </a:p>
        </p:txBody>
      </p:sp>
      <p:sp>
        <p:nvSpPr>
          <p:cNvPr id="5" name="Text 3"/>
          <p:cNvSpPr/>
          <p:nvPr/>
        </p:nvSpPr>
        <p:spPr>
          <a:xfrm>
            <a:off x="426393" y="956965"/>
            <a:ext cx="8291215" cy="317153"/>
          </a:xfrm>
          <a:prstGeom prst="rect">
            <a:avLst/>
          </a:prstGeom>
          <a:noFill/>
        </p:spPr>
        <p:txBody>
          <a:bodyPr wrap="square" lIns="0" tIns="0" rIns="0" bIns="0" rtlCol="0" anchor="t">
            <a:normAutofit/>
          </a:bodyPr>
          <a:lstStyle/>
          <a:p>
            <a:pPr marL="0" indent="0" algn="l">
              <a:lnSpc>
                <a:spcPct val="124000"/>
              </a:lnSpc>
              <a:buNone/>
            </a:pPr>
            <a:r>
              <a:rPr lang="en-US" sz="800" dirty="0">
                <a:solidFill>
                  <a:srgbClr val="55575A"/>
                </a:solidFill>
                <a:latin typeface="Manrope" pitchFamily="34" charset="0"/>
                <a:ea typeface="Manrope" pitchFamily="34" charset="-122"/>
                <a:cs typeface="Manrope" pitchFamily="34" charset="-120"/>
              </a:rPr>
              <a:t> Proactive measures are your strongest defense against phishing. By integrating these best practices into your daily digital habits, you significantly reduce your vulnerability to cyber attacks and protect both your personal and organizational data. </a:t>
            </a:r>
            <a:endParaRPr lang="en-US" sz="800" dirty="0"/>
          </a:p>
        </p:txBody>
      </p:sp>
      <p:pic>
        <p:nvPicPr>
          <p:cNvPr id="6"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6393" y="1377107"/>
            <a:ext cx="4099768" cy="1085776"/>
          </a:xfrm>
          <a:prstGeom prst="rect">
            <a:avLst/>
          </a:prstGeom>
        </p:spPr>
      </p:pic>
      <p:sp>
        <p:nvSpPr>
          <p:cNvPr id="7" name="Text 4"/>
          <p:cNvSpPr/>
          <p:nvPr/>
        </p:nvSpPr>
        <p:spPr>
          <a:xfrm>
            <a:off x="2412318" y="1457027"/>
            <a:ext cx="127918" cy="159841"/>
          </a:xfrm>
          <a:prstGeom prst="rect">
            <a:avLst/>
          </a:prstGeom>
          <a:noFill/>
        </p:spPr>
        <p:txBody>
          <a:bodyPr wrap="none" lIns="0" tIns="0" rIns="0" bIns="0" rtlCol="0" anchor="ctr"/>
          <a:lstStyle/>
          <a:p>
            <a:pPr marL="0" indent="0" algn="ctr">
              <a:lnSpc>
                <a:spcPct val="100000"/>
              </a:lnSpc>
              <a:buNone/>
            </a:pPr>
            <a:r>
              <a:rPr lang="en-US" sz="1000" dirty="0">
                <a:solidFill>
                  <a:srgbClr val="000000"/>
                </a:solidFill>
                <a:latin typeface="Inter" panose="02000503000000020004" pitchFamily="34" charset="0"/>
                <a:ea typeface="Inter" panose="02000503000000020004" pitchFamily="34" charset="-122"/>
                <a:cs typeface="Inter" panose="02000503000000020004" pitchFamily="34" charset="-120"/>
              </a:rPr>
              <a:t>1</a:t>
            </a:r>
            <a:endParaRPr lang="en-US" sz="1000" dirty="0"/>
          </a:p>
        </p:txBody>
      </p:sp>
      <p:sp>
        <p:nvSpPr>
          <p:cNvPr id="8" name="Text 5"/>
          <p:cNvSpPr/>
          <p:nvPr/>
        </p:nvSpPr>
        <p:spPr>
          <a:xfrm>
            <a:off x="547241" y="1803425"/>
            <a:ext cx="1785193" cy="166539"/>
          </a:xfrm>
          <a:prstGeom prst="rect">
            <a:avLst/>
          </a:prstGeom>
          <a:noFill/>
        </p:spPr>
        <p:txBody>
          <a:bodyPr wrap="none" lIns="0" tIns="0" rIns="0" bIns="0" rtlCol="0" anchor="t"/>
          <a:lstStyle/>
          <a:p>
            <a:pPr marL="0" indent="0" algn="l">
              <a:lnSpc>
                <a:spcPct val="104000"/>
              </a:lnSpc>
              <a:buNone/>
            </a:pPr>
            <a:r>
              <a:rPr lang="en-US" sz="1000" dirty="0">
                <a:solidFill>
                  <a:srgbClr val="55575A"/>
                </a:solidFill>
                <a:latin typeface="Inter" panose="02000503000000020004" pitchFamily="34" charset="0"/>
                <a:ea typeface="Inter" panose="02000503000000020004" pitchFamily="34" charset="-122"/>
                <a:cs typeface="Inter" panose="02000503000000020004" pitchFamily="34" charset="-120"/>
              </a:rPr>
              <a:t>Do Not Click Unknown Links</a:t>
            </a:r>
            <a:endParaRPr lang="en-US" sz="1000" dirty="0"/>
          </a:p>
        </p:txBody>
      </p:sp>
      <p:sp>
        <p:nvSpPr>
          <p:cNvPr id="9" name="Text 6"/>
          <p:cNvSpPr/>
          <p:nvPr/>
        </p:nvSpPr>
        <p:spPr>
          <a:xfrm>
            <a:off x="547241" y="2024881"/>
            <a:ext cx="3858071" cy="158576"/>
          </a:xfrm>
          <a:prstGeom prst="rect">
            <a:avLst/>
          </a:prstGeom>
          <a:noFill/>
        </p:spPr>
        <p:txBody>
          <a:bodyPr wrap="none" lIns="0" tIns="0" rIns="0" bIns="0" rtlCol="0" anchor="t"/>
          <a:lstStyle/>
          <a:p>
            <a:pPr marL="0" indent="0" algn="l">
              <a:lnSpc>
                <a:spcPct val="124000"/>
              </a:lnSpc>
              <a:buNone/>
            </a:pPr>
            <a:r>
              <a:rPr lang="en-US" sz="800" dirty="0">
                <a:solidFill>
                  <a:srgbClr val="55575A"/>
                </a:solidFill>
                <a:latin typeface="Manrope" pitchFamily="34" charset="0"/>
                <a:ea typeface="Manrope" pitchFamily="34" charset="-122"/>
                <a:cs typeface="Manrope" pitchFamily="34" charset="-120"/>
              </a:rPr>
              <a:t>Always manually type URLs or use bookmarks for sensitive sites.</a:t>
            </a:r>
            <a:endParaRPr lang="en-US" sz="800" dirty="0"/>
          </a:p>
        </p:txBody>
      </p:sp>
      <p:pic>
        <p:nvPicPr>
          <p:cNvPr id="10" name="Image 1"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17765" y="1377107"/>
            <a:ext cx="4099843" cy="1085776"/>
          </a:xfrm>
          <a:prstGeom prst="rect">
            <a:avLst/>
          </a:prstGeom>
        </p:spPr>
      </p:pic>
      <p:sp>
        <p:nvSpPr>
          <p:cNvPr id="11" name="Text 7"/>
          <p:cNvSpPr/>
          <p:nvPr/>
        </p:nvSpPr>
        <p:spPr>
          <a:xfrm>
            <a:off x="6603690" y="1457027"/>
            <a:ext cx="127918" cy="159841"/>
          </a:xfrm>
          <a:prstGeom prst="rect">
            <a:avLst/>
          </a:prstGeom>
          <a:noFill/>
        </p:spPr>
        <p:txBody>
          <a:bodyPr wrap="none" lIns="0" tIns="0" rIns="0" bIns="0" rtlCol="0" anchor="ctr"/>
          <a:lstStyle/>
          <a:p>
            <a:pPr marL="0" indent="0" algn="ctr">
              <a:lnSpc>
                <a:spcPct val="100000"/>
              </a:lnSpc>
              <a:buNone/>
            </a:pPr>
            <a:r>
              <a:rPr lang="en-US" sz="1000" dirty="0">
                <a:solidFill>
                  <a:srgbClr val="000000"/>
                </a:solidFill>
                <a:latin typeface="Inter" panose="02000503000000020004" pitchFamily="34" charset="0"/>
                <a:ea typeface="Inter" panose="02000503000000020004" pitchFamily="34" charset="-122"/>
                <a:cs typeface="Inter" panose="02000503000000020004" pitchFamily="34" charset="-120"/>
              </a:rPr>
              <a:t>2</a:t>
            </a:r>
            <a:endParaRPr lang="en-US" sz="1000" dirty="0"/>
          </a:p>
        </p:txBody>
      </p:sp>
      <p:sp>
        <p:nvSpPr>
          <p:cNvPr id="12" name="Text 8"/>
          <p:cNvSpPr/>
          <p:nvPr/>
        </p:nvSpPr>
        <p:spPr>
          <a:xfrm>
            <a:off x="4738613" y="1803425"/>
            <a:ext cx="2096021" cy="166539"/>
          </a:xfrm>
          <a:prstGeom prst="rect">
            <a:avLst/>
          </a:prstGeom>
          <a:noFill/>
        </p:spPr>
        <p:txBody>
          <a:bodyPr wrap="none" lIns="0" tIns="0" rIns="0" bIns="0" rtlCol="0" anchor="t"/>
          <a:lstStyle/>
          <a:p>
            <a:pPr marL="0" indent="0" algn="l">
              <a:lnSpc>
                <a:spcPct val="104000"/>
              </a:lnSpc>
              <a:buNone/>
            </a:pPr>
            <a:r>
              <a:rPr lang="en-US" sz="1000" dirty="0">
                <a:solidFill>
                  <a:srgbClr val="55575A"/>
                </a:solidFill>
                <a:latin typeface="Inter" panose="02000503000000020004" pitchFamily="34" charset="0"/>
                <a:ea typeface="Inter" panose="02000503000000020004" pitchFamily="34" charset="-122"/>
                <a:cs typeface="Inter" panose="02000503000000020004" pitchFamily="34" charset="-120"/>
              </a:rPr>
              <a:t>Verify Sender Before Responding</a:t>
            </a:r>
            <a:endParaRPr lang="en-US" sz="1000" dirty="0"/>
          </a:p>
        </p:txBody>
      </p:sp>
      <p:sp>
        <p:nvSpPr>
          <p:cNvPr id="13" name="Text 9"/>
          <p:cNvSpPr/>
          <p:nvPr/>
        </p:nvSpPr>
        <p:spPr>
          <a:xfrm>
            <a:off x="4738613" y="2024881"/>
            <a:ext cx="3858146" cy="317153"/>
          </a:xfrm>
          <a:prstGeom prst="rect">
            <a:avLst/>
          </a:prstGeom>
          <a:noFill/>
        </p:spPr>
        <p:txBody>
          <a:bodyPr wrap="square" lIns="0" tIns="0" rIns="0" bIns="0" rtlCol="0" anchor="t">
            <a:normAutofit/>
          </a:bodyPr>
          <a:lstStyle/>
          <a:p>
            <a:pPr marL="0" indent="0" algn="l">
              <a:lnSpc>
                <a:spcPct val="124000"/>
              </a:lnSpc>
              <a:buNone/>
            </a:pPr>
            <a:r>
              <a:rPr lang="en-US" sz="800" dirty="0">
                <a:solidFill>
                  <a:srgbClr val="55575A"/>
                </a:solidFill>
                <a:latin typeface="Manrope" pitchFamily="34" charset="0"/>
                <a:ea typeface="Manrope" pitchFamily="34" charset="-122"/>
                <a:cs typeface="Manrope" pitchFamily="34" charset="-120"/>
              </a:rPr>
              <a:t>If unsure, contact the sender through a known, legitimate channel (e.g., phone call, official website).</a:t>
            </a:r>
            <a:endParaRPr lang="en-US" sz="800" dirty="0"/>
          </a:p>
        </p:txBody>
      </p:sp>
      <p:pic>
        <p:nvPicPr>
          <p:cNvPr id="14" name="Image 2"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6393" y="2554486"/>
            <a:ext cx="4099768" cy="1085776"/>
          </a:xfrm>
          <a:prstGeom prst="rect">
            <a:avLst/>
          </a:prstGeom>
        </p:spPr>
      </p:pic>
      <p:sp>
        <p:nvSpPr>
          <p:cNvPr id="15" name="Text 10"/>
          <p:cNvSpPr/>
          <p:nvPr/>
        </p:nvSpPr>
        <p:spPr>
          <a:xfrm>
            <a:off x="2412318" y="2634407"/>
            <a:ext cx="127918" cy="159841"/>
          </a:xfrm>
          <a:prstGeom prst="rect">
            <a:avLst/>
          </a:prstGeom>
          <a:noFill/>
        </p:spPr>
        <p:txBody>
          <a:bodyPr wrap="none" lIns="0" tIns="0" rIns="0" bIns="0" rtlCol="0" anchor="ctr"/>
          <a:lstStyle/>
          <a:p>
            <a:pPr marL="0" indent="0" algn="ctr">
              <a:lnSpc>
                <a:spcPct val="100000"/>
              </a:lnSpc>
              <a:buNone/>
            </a:pPr>
            <a:r>
              <a:rPr lang="en-US" sz="1000" dirty="0">
                <a:solidFill>
                  <a:srgbClr val="000000"/>
                </a:solidFill>
                <a:latin typeface="Inter" panose="02000503000000020004" pitchFamily="34" charset="0"/>
                <a:ea typeface="Inter" panose="02000503000000020004" pitchFamily="34" charset="-122"/>
                <a:cs typeface="Inter" panose="02000503000000020004" pitchFamily="34" charset="-120"/>
              </a:rPr>
              <a:t>3</a:t>
            </a:r>
            <a:endParaRPr lang="en-US" sz="1000" dirty="0"/>
          </a:p>
        </p:txBody>
      </p:sp>
      <p:sp>
        <p:nvSpPr>
          <p:cNvPr id="16" name="Text 11"/>
          <p:cNvSpPr/>
          <p:nvPr/>
        </p:nvSpPr>
        <p:spPr>
          <a:xfrm>
            <a:off x="547241" y="2980804"/>
            <a:ext cx="1949946" cy="166539"/>
          </a:xfrm>
          <a:prstGeom prst="rect">
            <a:avLst/>
          </a:prstGeom>
          <a:noFill/>
        </p:spPr>
        <p:txBody>
          <a:bodyPr wrap="none" lIns="0" tIns="0" rIns="0" bIns="0" rtlCol="0" anchor="t"/>
          <a:lstStyle/>
          <a:p>
            <a:pPr marL="0" indent="0" algn="l">
              <a:lnSpc>
                <a:spcPct val="104000"/>
              </a:lnSpc>
              <a:buNone/>
            </a:pPr>
            <a:r>
              <a:rPr lang="en-US" sz="1000" dirty="0">
                <a:solidFill>
                  <a:srgbClr val="55575A"/>
                </a:solidFill>
                <a:latin typeface="Inter" panose="02000503000000020004" pitchFamily="34" charset="0"/>
                <a:ea typeface="Inter" panose="02000503000000020004" pitchFamily="34" charset="-122"/>
                <a:cs typeface="Inter" panose="02000503000000020004" pitchFamily="34" charset="-120"/>
              </a:rPr>
              <a:t>Use Strong, Unique Passwords</a:t>
            </a:r>
            <a:endParaRPr lang="en-US" sz="1000" dirty="0"/>
          </a:p>
        </p:txBody>
      </p:sp>
      <p:sp>
        <p:nvSpPr>
          <p:cNvPr id="17" name="Text 12"/>
          <p:cNvSpPr/>
          <p:nvPr/>
        </p:nvSpPr>
        <p:spPr>
          <a:xfrm>
            <a:off x="547241" y="3202260"/>
            <a:ext cx="3858071" cy="317153"/>
          </a:xfrm>
          <a:prstGeom prst="rect">
            <a:avLst/>
          </a:prstGeom>
          <a:noFill/>
        </p:spPr>
        <p:txBody>
          <a:bodyPr wrap="square" lIns="0" tIns="0" rIns="0" bIns="0" rtlCol="0" anchor="t">
            <a:normAutofit/>
          </a:bodyPr>
          <a:lstStyle/>
          <a:p>
            <a:pPr marL="0" indent="0" algn="l">
              <a:lnSpc>
                <a:spcPct val="124000"/>
              </a:lnSpc>
              <a:buNone/>
            </a:pPr>
            <a:r>
              <a:rPr lang="en-US" sz="800" dirty="0">
                <a:solidFill>
                  <a:srgbClr val="55575A"/>
                </a:solidFill>
                <a:latin typeface="Manrope" pitchFamily="34" charset="0"/>
                <a:ea typeface="Manrope" pitchFamily="34" charset="-122"/>
                <a:cs typeface="Manrope" pitchFamily="34" charset="-120"/>
              </a:rPr>
              <a:t>Combine uppercase, lowercase, numbers, and symbols. Avoid reusing passwords across different accounts.</a:t>
            </a:r>
            <a:endParaRPr lang="en-US" sz="800" dirty="0"/>
          </a:p>
        </p:txBody>
      </p:sp>
      <p:pic>
        <p:nvPicPr>
          <p:cNvPr id="18" name="Image 3"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17765" y="2554486"/>
            <a:ext cx="4099843" cy="1085776"/>
          </a:xfrm>
          <a:prstGeom prst="rect">
            <a:avLst/>
          </a:prstGeom>
        </p:spPr>
      </p:pic>
      <p:sp>
        <p:nvSpPr>
          <p:cNvPr id="19" name="Text 13"/>
          <p:cNvSpPr/>
          <p:nvPr/>
        </p:nvSpPr>
        <p:spPr>
          <a:xfrm>
            <a:off x="6603690" y="2634407"/>
            <a:ext cx="127918" cy="159841"/>
          </a:xfrm>
          <a:prstGeom prst="rect">
            <a:avLst/>
          </a:prstGeom>
          <a:noFill/>
        </p:spPr>
        <p:txBody>
          <a:bodyPr wrap="none" lIns="0" tIns="0" rIns="0" bIns="0" rtlCol="0" anchor="ctr"/>
          <a:lstStyle/>
          <a:p>
            <a:pPr marL="0" indent="0" algn="ctr">
              <a:lnSpc>
                <a:spcPct val="100000"/>
              </a:lnSpc>
              <a:buNone/>
            </a:pPr>
            <a:r>
              <a:rPr lang="en-US" sz="1000" dirty="0">
                <a:solidFill>
                  <a:srgbClr val="000000"/>
                </a:solidFill>
                <a:latin typeface="Inter" panose="02000503000000020004" pitchFamily="34" charset="0"/>
                <a:ea typeface="Inter" panose="02000503000000020004" pitchFamily="34" charset="-122"/>
                <a:cs typeface="Inter" panose="02000503000000020004" pitchFamily="34" charset="-120"/>
              </a:rPr>
              <a:t>4</a:t>
            </a:r>
            <a:endParaRPr lang="en-US" sz="1000" dirty="0"/>
          </a:p>
        </p:txBody>
      </p:sp>
      <p:sp>
        <p:nvSpPr>
          <p:cNvPr id="20" name="Text 14"/>
          <p:cNvSpPr/>
          <p:nvPr/>
        </p:nvSpPr>
        <p:spPr>
          <a:xfrm>
            <a:off x="4738613" y="2980804"/>
            <a:ext cx="2327151" cy="166539"/>
          </a:xfrm>
          <a:prstGeom prst="rect">
            <a:avLst/>
          </a:prstGeom>
          <a:noFill/>
        </p:spPr>
        <p:txBody>
          <a:bodyPr wrap="none" lIns="0" tIns="0" rIns="0" bIns="0" rtlCol="0" anchor="t"/>
          <a:lstStyle/>
          <a:p>
            <a:pPr marL="0" indent="0" algn="l">
              <a:lnSpc>
                <a:spcPct val="104000"/>
              </a:lnSpc>
              <a:buNone/>
            </a:pPr>
            <a:r>
              <a:rPr lang="en-US" sz="1000" dirty="0">
                <a:solidFill>
                  <a:srgbClr val="55575A"/>
                </a:solidFill>
                <a:latin typeface="Inter" panose="02000503000000020004" pitchFamily="34" charset="0"/>
                <a:ea typeface="Inter" panose="02000503000000020004" pitchFamily="34" charset="-122"/>
                <a:cs typeface="Inter" panose="02000503000000020004" pitchFamily="34" charset="-120"/>
              </a:rPr>
              <a:t>Enable 2-Factor Authentication (2FA)</a:t>
            </a:r>
            <a:endParaRPr lang="en-US" sz="1000" dirty="0"/>
          </a:p>
        </p:txBody>
      </p:sp>
      <p:sp>
        <p:nvSpPr>
          <p:cNvPr id="21" name="Text 15"/>
          <p:cNvSpPr/>
          <p:nvPr/>
        </p:nvSpPr>
        <p:spPr>
          <a:xfrm>
            <a:off x="4738613" y="3202260"/>
            <a:ext cx="3858146" cy="317153"/>
          </a:xfrm>
          <a:prstGeom prst="rect">
            <a:avLst/>
          </a:prstGeom>
          <a:noFill/>
        </p:spPr>
        <p:txBody>
          <a:bodyPr wrap="square" lIns="0" tIns="0" rIns="0" bIns="0" rtlCol="0" anchor="t">
            <a:normAutofit/>
          </a:bodyPr>
          <a:lstStyle/>
          <a:p>
            <a:pPr marL="0" indent="0" algn="l">
              <a:lnSpc>
                <a:spcPct val="124000"/>
              </a:lnSpc>
              <a:buNone/>
            </a:pPr>
            <a:r>
              <a:rPr lang="en-US" sz="800" dirty="0">
                <a:solidFill>
                  <a:srgbClr val="55575A"/>
                </a:solidFill>
                <a:latin typeface="Manrope" pitchFamily="34" charset="0"/>
                <a:ea typeface="Manrope" pitchFamily="34" charset="-122"/>
                <a:cs typeface="Manrope" pitchFamily="34" charset="-120"/>
              </a:rPr>
              <a:t>Adds an extra layer of security, requiring a second verification method beyond just a password.</a:t>
            </a:r>
            <a:endParaRPr lang="en-US" sz="800" dirty="0"/>
          </a:p>
        </p:txBody>
      </p:sp>
      <p:pic>
        <p:nvPicPr>
          <p:cNvPr id="22" name="Image 4"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6393" y="3731865"/>
            <a:ext cx="4099768" cy="1085776"/>
          </a:xfrm>
          <a:prstGeom prst="rect">
            <a:avLst/>
          </a:prstGeom>
        </p:spPr>
      </p:pic>
      <p:sp>
        <p:nvSpPr>
          <p:cNvPr id="23" name="Text 16"/>
          <p:cNvSpPr/>
          <p:nvPr/>
        </p:nvSpPr>
        <p:spPr>
          <a:xfrm>
            <a:off x="2412318" y="3811786"/>
            <a:ext cx="127918" cy="159841"/>
          </a:xfrm>
          <a:prstGeom prst="rect">
            <a:avLst/>
          </a:prstGeom>
          <a:noFill/>
        </p:spPr>
        <p:txBody>
          <a:bodyPr wrap="none" lIns="0" tIns="0" rIns="0" bIns="0" rtlCol="0" anchor="ctr"/>
          <a:lstStyle/>
          <a:p>
            <a:pPr marL="0" indent="0" algn="ctr">
              <a:lnSpc>
                <a:spcPct val="100000"/>
              </a:lnSpc>
              <a:buNone/>
            </a:pPr>
            <a:r>
              <a:rPr lang="en-US" sz="1000" dirty="0">
                <a:solidFill>
                  <a:srgbClr val="000000"/>
                </a:solidFill>
                <a:latin typeface="Inter" panose="02000503000000020004" pitchFamily="34" charset="0"/>
                <a:ea typeface="Inter" panose="02000503000000020004" pitchFamily="34" charset="-122"/>
                <a:cs typeface="Inter" panose="02000503000000020004" pitchFamily="34" charset="-120"/>
              </a:rPr>
              <a:t>5</a:t>
            </a:r>
            <a:endParaRPr lang="en-US" sz="1000" dirty="0"/>
          </a:p>
        </p:txBody>
      </p:sp>
      <p:sp>
        <p:nvSpPr>
          <p:cNvPr id="24" name="Text 17"/>
          <p:cNvSpPr/>
          <p:nvPr/>
        </p:nvSpPr>
        <p:spPr>
          <a:xfrm>
            <a:off x="547241" y="4158183"/>
            <a:ext cx="2046015" cy="166539"/>
          </a:xfrm>
          <a:prstGeom prst="rect">
            <a:avLst/>
          </a:prstGeom>
          <a:noFill/>
        </p:spPr>
        <p:txBody>
          <a:bodyPr wrap="none" lIns="0" tIns="0" rIns="0" bIns="0" rtlCol="0" anchor="t"/>
          <a:lstStyle/>
          <a:p>
            <a:pPr marL="0" indent="0" algn="l">
              <a:lnSpc>
                <a:spcPct val="104000"/>
              </a:lnSpc>
              <a:buNone/>
            </a:pPr>
            <a:r>
              <a:rPr lang="en-US" sz="1000" dirty="0">
                <a:solidFill>
                  <a:srgbClr val="55575A"/>
                </a:solidFill>
                <a:latin typeface="Inter" panose="02000503000000020004" pitchFamily="34" charset="0"/>
                <a:ea typeface="Inter" panose="02000503000000020004" pitchFamily="34" charset="-122"/>
                <a:cs typeface="Inter" panose="02000503000000020004" pitchFamily="34" charset="-120"/>
              </a:rPr>
              <a:t>Never Share OTPs or Passwords</a:t>
            </a:r>
            <a:endParaRPr lang="en-US" sz="1000" dirty="0"/>
          </a:p>
        </p:txBody>
      </p:sp>
      <p:sp>
        <p:nvSpPr>
          <p:cNvPr id="25" name="Text 18"/>
          <p:cNvSpPr/>
          <p:nvPr/>
        </p:nvSpPr>
        <p:spPr>
          <a:xfrm>
            <a:off x="547241" y="4379640"/>
            <a:ext cx="3858071" cy="317153"/>
          </a:xfrm>
          <a:prstGeom prst="rect">
            <a:avLst/>
          </a:prstGeom>
          <a:noFill/>
        </p:spPr>
        <p:txBody>
          <a:bodyPr wrap="square" lIns="0" tIns="0" rIns="0" bIns="0" rtlCol="0" anchor="t">
            <a:normAutofit/>
          </a:bodyPr>
          <a:lstStyle/>
          <a:p>
            <a:pPr marL="0" indent="0" algn="l">
              <a:lnSpc>
                <a:spcPct val="124000"/>
              </a:lnSpc>
              <a:buNone/>
            </a:pPr>
            <a:r>
              <a:rPr lang="en-US" sz="800" dirty="0">
                <a:solidFill>
                  <a:srgbClr val="55575A"/>
                </a:solidFill>
                <a:latin typeface="Manrope" pitchFamily="34" charset="0"/>
                <a:ea typeface="Manrope" pitchFamily="34" charset="-122"/>
                <a:cs typeface="Manrope" pitchFamily="34" charset="-120"/>
              </a:rPr>
              <a:t>Legitimate entities will never ask for your password or OTP via email, text, or phone call.</a:t>
            </a:r>
            <a:endParaRPr lang="en-US" sz="800" dirty="0"/>
          </a:p>
        </p:txBody>
      </p:sp>
      <p:pic>
        <p:nvPicPr>
          <p:cNvPr id="26" name="Image 5"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17765" y="3731865"/>
            <a:ext cx="4099843" cy="1085776"/>
          </a:xfrm>
          <a:prstGeom prst="rect">
            <a:avLst/>
          </a:prstGeom>
        </p:spPr>
      </p:pic>
      <p:sp>
        <p:nvSpPr>
          <p:cNvPr id="27" name="Text 19"/>
          <p:cNvSpPr/>
          <p:nvPr/>
        </p:nvSpPr>
        <p:spPr>
          <a:xfrm>
            <a:off x="6603690" y="3811786"/>
            <a:ext cx="127918" cy="159841"/>
          </a:xfrm>
          <a:prstGeom prst="rect">
            <a:avLst/>
          </a:prstGeom>
          <a:noFill/>
        </p:spPr>
        <p:txBody>
          <a:bodyPr wrap="none" lIns="0" tIns="0" rIns="0" bIns="0" rtlCol="0" anchor="ctr"/>
          <a:lstStyle/>
          <a:p>
            <a:pPr marL="0" indent="0" algn="ctr">
              <a:lnSpc>
                <a:spcPct val="100000"/>
              </a:lnSpc>
              <a:buNone/>
            </a:pPr>
            <a:r>
              <a:rPr lang="en-US" sz="1000" dirty="0">
                <a:solidFill>
                  <a:srgbClr val="000000"/>
                </a:solidFill>
                <a:latin typeface="Inter" panose="02000503000000020004" pitchFamily="34" charset="0"/>
                <a:ea typeface="Inter" panose="02000503000000020004" pitchFamily="34" charset="-122"/>
                <a:cs typeface="Inter" panose="02000503000000020004" pitchFamily="34" charset="-120"/>
              </a:rPr>
              <a:t>6</a:t>
            </a:r>
            <a:endParaRPr lang="en-US" sz="1000" dirty="0"/>
          </a:p>
        </p:txBody>
      </p:sp>
      <p:sp>
        <p:nvSpPr>
          <p:cNvPr id="28" name="Text 20"/>
          <p:cNvSpPr/>
          <p:nvPr/>
        </p:nvSpPr>
        <p:spPr>
          <a:xfrm>
            <a:off x="4738613" y="4158183"/>
            <a:ext cx="1499592" cy="166539"/>
          </a:xfrm>
          <a:prstGeom prst="rect">
            <a:avLst/>
          </a:prstGeom>
          <a:noFill/>
        </p:spPr>
        <p:txBody>
          <a:bodyPr wrap="none" lIns="0" tIns="0" rIns="0" bIns="0" rtlCol="0" anchor="t"/>
          <a:lstStyle/>
          <a:p>
            <a:pPr marL="0" indent="0" algn="l">
              <a:lnSpc>
                <a:spcPct val="104000"/>
              </a:lnSpc>
              <a:buNone/>
            </a:pPr>
            <a:r>
              <a:rPr lang="en-US" sz="1000" dirty="0">
                <a:solidFill>
                  <a:srgbClr val="55575A"/>
                </a:solidFill>
                <a:latin typeface="Inter" panose="02000503000000020004" pitchFamily="34" charset="0"/>
                <a:ea typeface="Inter" panose="02000503000000020004" pitchFamily="34" charset="-122"/>
                <a:cs typeface="Inter" panose="02000503000000020004" pitchFamily="34" charset="-120"/>
              </a:rPr>
              <a:t>Keep Software Updated</a:t>
            </a:r>
            <a:endParaRPr lang="en-US" sz="1000" dirty="0"/>
          </a:p>
        </p:txBody>
      </p:sp>
      <p:sp>
        <p:nvSpPr>
          <p:cNvPr id="29" name="Text 21"/>
          <p:cNvSpPr/>
          <p:nvPr/>
        </p:nvSpPr>
        <p:spPr>
          <a:xfrm>
            <a:off x="4738613" y="4379640"/>
            <a:ext cx="3858146" cy="317153"/>
          </a:xfrm>
          <a:prstGeom prst="rect">
            <a:avLst/>
          </a:prstGeom>
          <a:noFill/>
        </p:spPr>
        <p:txBody>
          <a:bodyPr wrap="square" lIns="0" tIns="0" rIns="0" bIns="0" rtlCol="0" anchor="t">
            <a:normAutofit/>
          </a:bodyPr>
          <a:lstStyle/>
          <a:p>
            <a:pPr marL="0" indent="0" algn="l">
              <a:lnSpc>
                <a:spcPct val="124000"/>
              </a:lnSpc>
              <a:buNone/>
            </a:pPr>
            <a:r>
              <a:rPr lang="en-US" sz="800" dirty="0">
                <a:solidFill>
                  <a:srgbClr val="55575A"/>
                </a:solidFill>
                <a:latin typeface="Manrope" pitchFamily="34" charset="0"/>
                <a:ea typeface="Manrope" pitchFamily="34" charset="-122"/>
                <a:cs typeface="Manrope" pitchFamily="34" charset="-120"/>
              </a:rPr>
              <a:t>Regularly update your operating system, web browsers, and antivirus software to patch vulnerabilities.</a:t>
            </a:r>
            <a:endParaRPr lang="en-US" sz="800" dirty="0"/>
          </a:p>
        </p:txBody>
      </p:sp>
      <p:sp>
        <p:nvSpPr>
          <p:cNvPr id="30" name="Rectangle 29"/>
          <p:cNvSpPr/>
          <p:nvPr/>
        </p:nvSpPr>
        <p:spPr>
          <a:xfrm>
            <a:off x="7931785" y="4857750"/>
            <a:ext cx="1212215" cy="29718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27336" y="501328"/>
            <a:ext cx="3298775" cy="237455"/>
          </a:xfrm>
          <a:prstGeom prst="rect">
            <a:avLst/>
          </a:prstGeom>
          <a:noFill/>
        </p:spPr>
        <p:txBody>
          <a:bodyPr wrap="none" lIns="0" tIns="0" rIns="0" bIns="0" rtlCol="0" anchor="t"/>
          <a:lstStyle/>
          <a:p>
            <a:pPr marL="0" indent="0" algn="l">
              <a:lnSpc>
                <a:spcPct val="104000"/>
              </a:lnSpc>
              <a:buNone/>
            </a:pPr>
            <a:r>
              <a:rPr lang="en-US" sz="1450" dirty="0">
                <a:solidFill>
                  <a:srgbClr val="0C0D0F"/>
                </a:solidFill>
                <a:latin typeface="Inter" panose="02000503000000020004" pitchFamily="34" charset="0"/>
                <a:ea typeface="Inter" panose="02000503000000020004" pitchFamily="34" charset="-122"/>
                <a:cs typeface="Inter" panose="02000503000000020004" pitchFamily="34" charset="-120"/>
              </a:rPr>
              <a:t>A Real-World Phishing Scenario</a:t>
            </a:r>
            <a:endParaRPr lang="en-US" sz="1450" dirty="0"/>
          </a:p>
        </p:txBody>
      </p:sp>
      <p:sp>
        <p:nvSpPr>
          <p:cNvPr id="5" name="Text 3"/>
          <p:cNvSpPr/>
          <p:nvPr/>
        </p:nvSpPr>
        <p:spPr>
          <a:xfrm>
            <a:off x="827336" y="847799"/>
            <a:ext cx="7489254" cy="268188"/>
          </a:xfrm>
          <a:prstGeom prst="rect">
            <a:avLst/>
          </a:prstGeom>
          <a:noFill/>
        </p:spPr>
        <p:txBody>
          <a:bodyPr wrap="square" lIns="0" tIns="0" rIns="0" bIns="0" rtlCol="0" anchor="t">
            <a:normAutofit/>
          </a:bodyPr>
          <a:lstStyle/>
          <a:p>
            <a:pPr marL="0" indent="0" algn="l">
              <a:lnSpc>
                <a:spcPct val="118000"/>
              </a:lnSpc>
              <a:buNone/>
            </a:pPr>
            <a:r>
              <a:rPr lang="en-US" sz="700" dirty="0">
                <a:solidFill>
                  <a:srgbClr val="55575A"/>
                </a:solidFill>
                <a:latin typeface="Manrope" pitchFamily="34" charset="0"/>
                <a:ea typeface="Manrope" pitchFamily="34" charset="-122"/>
                <a:cs typeface="Manrope" pitchFamily="34" charset="-120"/>
              </a:rPr>
              <a:t> Consider a common phishing attempt to understand the tactics involved and how easily one can fall prey without vigilance. This example highlights the typical flow of a phishing attack and its potential consequences. </a:t>
            </a:r>
            <a:endParaRPr lang="en-US" sz="700" dirty="0"/>
          </a:p>
        </p:txBody>
      </p:sp>
      <p:pic>
        <p:nvPicPr>
          <p:cNvPr id="6" name="Image 0" descr="preencoded.png"/>
          <p:cNvPicPr>
            <a:picLocks noChangeAspect="1"/>
          </p:cNvPicPr>
          <p:nvPr/>
        </p:nvPicPr>
        <p:blipFill>
          <a:blip r:embed="rId1"/>
          <a:stretch>
            <a:fillRect/>
          </a:stretch>
        </p:blipFill>
        <p:spPr>
          <a:xfrm>
            <a:off x="827336" y="1197769"/>
            <a:ext cx="7489254" cy="3287539"/>
          </a:xfrm>
          <a:prstGeom prst="rect">
            <a:avLst/>
          </a:prstGeom>
        </p:spPr>
      </p:pic>
      <p:sp>
        <p:nvSpPr>
          <p:cNvPr id="7" name="Text 4"/>
          <p:cNvSpPr/>
          <p:nvPr/>
        </p:nvSpPr>
        <p:spPr>
          <a:xfrm>
            <a:off x="2097828" y="3577731"/>
            <a:ext cx="1312780" cy="202868"/>
          </a:xfrm>
          <a:prstGeom prst="rect">
            <a:avLst/>
          </a:prstGeom>
          <a:noFill/>
        </p:spPr>
        <p:txBody>
          <a:bodyPr wrap="none" lIns="0" tIns="0" rIns="0" bIns="0" rtlCol="0" anchor="t"/>
          <a:lstStyle/>
          <a:p>
            <a:pPr marL="0" indent="0" algn="ctr">
              <a:lnSpc>
                <a:spcPct val="104000"/>
              </a:lnSpc>
              <a:buNone/>
            </a:pPr>
            <a:r>
              <a:rPr lang="en-US" sz="1250" dirty="0">
                <a:solidFill>
                  <a:srgbClr val="0C0D0F"/>
                </a:solidFill>
                <a:latin typeface="Inter" panose="02000503000000020004" pitchFamily="34" charset="0"/>
                <a:ea typeface="Inter" panose="02000503000000020004" pitchFamily="34" charset="-122"/>
                <a:cs typeface="Inter" panose="02000503000000020004" pitchFamily="34" charset="-120"/>
              </a:rPr>
              <a:t>Phishing Email</a:t>
            </a:r>
            <a:endParaRPr lang="en-US" sz="1250" dirty="0"/>
          </a:p>
        </p:txBody>
      </p:sp>
      <p:sp>
        <p:nvSpPr>
          <p:cNvPr id="8" name="Text 5"/>
          <p:cNvSpPr/>
          <p:nvPr/>
        </p:nvSpPr>
        <p:spPr>
          <a:xfrm>
            <a:off x="2097828" y="3838303"/>
            <a:ext cx="1312780" cy="286494"/>
          </a:xfrm>
          <a:prstGeom prst="rect">
            <a:avLst/>
          </a:prstGeom>
          <a:noFill/>
        </p:spPr>
        <p:txBody>
          <a:bodyPr wrap="square" lIns="0" tIns="0" rIns="0" bIns="0" rtlCol="0" anchor="t">
            <a:normAutofit lnSpcReduction="10000"/>
          </a:bodyPr>
          <a:lstStyle/>
          <a:p>
            <a:pPr marL="0" indent="0" algn="ctr">
              <a:lnSpc>
                <a:spcPct val="92000"/>
              </a:lnSpc>
              <a:buNone/>
            </a:pPr>
            <a:r>
              <a:rPr lang="en-US" sz="1000" dirty="0">
                <a:solidFill>
                  <a:srgbClr val="55575A"/>
                </a:solidFill>
                <a:latin typeface="Manrope" pitchFamily="34" charset="0"/>
                <a:ea typeface="Manrope" pitchFamily="34" charset="-122"/>
                <a:cs typeface="Manrope" pitchFamily="34" charset="-120"/>
              </a:rPr>
              <a:t>“Your bank account is locked. Click here.”</a:t>
            </a:r>
            <a:endParaRPr lang="en-US" sz="1000" dirty="0"/>
          </a:p>
        </p:txBody>
      </p:sp>
      <p:sp>
        <p:nvSpPr>
          <p:cNvPr id="9" name="Text 6"/>
          <p:cNvSpPr/>
          <p:nvPr/>
        </p:nvSpPr>
        <p:spPr>
          <a:xfrm>
            <a:off x="5783710" y="3383992"/>
            <a:ext cx="1312780" cy="202868"/>
          </a:xfrm>
          <a:prstGeom prst="rect">
            <a:avLst/>
          </a:prstGeom>
          <a:noFill/>
        </p:spPr>
        <p:txBody>
          <a:bodyPr wrap="none" lIns="0" tIns="0" rIns="0" bIns="0" rtlCol="0" anchor="t"/>
          <a:lstStyle/>
          <a:p>
            <a:pPr marL="0" indent="0" algn="ctr">
              <a:lnSpc>
                <a:spcPct val="104000"/>
              </a:lnSpc>
              <a:buNone/>
            </a:pPr>
            <a:r>
              <a:rPr lang="en-US" sz="1250" dirty="0">
                <a:solidFill>
                  <a:srgbClr val="0C0D0F"/>
                </a:solidFill>
                <a:latin typeface="Inter" panose="02000503000000020004" pitchFamily="34" charset="0"/>
                <a:ea typeface="Inter" panose="02000503000000020004" pitchFamily="34" charset="-122"/>
                <a:cs typeface="Inter" panose="02000503000000020004" pitchFamily="34" charset="-120"/>
              </a:rPr>
              <a:t>Credential Theft</a:t>
            </a:r>
            <a:endParaRPr lang="en-US" sz="1250" dirty="0"/>
          </a:p>
        </p:txBody>
      </p:sp>
      <p:sp>
        <p:nvSpPr>
          <p:cNvPr id="10" name="Text 7"/>
          <p:cNvSpPr/>
          <p:nvPr/>
        </p:nvSpPr>
        <p:spPr>
          <a:xfrm>
            <a:off x="5783710" y="3644564"/>
            <a:ext cx="1312780" cy="429742"/>
          </a:xfrm>
          <a:prstGeom prst="rect">
            <a:avLst/>
          </a:prstGeom>
          <a:noFill/>
        </p:spPr>
        <p:txBody>
          <a:bodyPr wrap="square" lIns="0" tIns="0" rIns="0" bIns="0" rtlCol="0" anchor="t">
            <a:normAutofit lnSpcReduction="10000"/>
          </a:bodyPr>
          <a:lstStyle/>
          <a:p>
            <a:pPr marL="0" indent="0" algn="ctr">
              <a:lnSpc>
                <a:spcPct val="92000"/>
              </a:lnSpc>
              <a:buNone/>
            </a:pPr>
            <a:r>
              <a:rPr lang="en-US" sz="1000" dirty="0">
                <a:solidFill>
                  <a:srgbClr val="55575A"/>
                </a:solidFill>
                <a:latin typeface="Manrope" pitchFamily="34" charset="0"/>
                <a:ea typeface="Manrope" pitchFamily="34" charset="-122"/>
                <a:cs typeface="Manrope" pitchFamily="34" charset="-120"/>
              </a:rPr>
              <a:t>You enter details; attacker captures them</a:t>
            </a:r>
            <a:endParaRPr lang="en-US" sz="1000" dirty="0"/>
          </a:p>
        </p:txBody>
      </p:sp>
      <p:sp>
        <p:nvSpPr>
          <p:cNvPr id="11" name="Text 8"/>
          <p:cNvSpPr/>
          <p:nvPr/>
        </p:nvSpPr>
        <p:spPr>
          <a:xfrm>
            <a:off x="3951589" y="1542516"/>
            <a:ext cx="1312780" cy="202868"/>
          </a:xfrm>
          <a:prstGeom prst="rect">
            <a:avLst/>
          </a:prstGeom>
          <a:noFill/>
        </p:spPr>
        <p:txBody>
          <a:bodyPr wrap="none" lIns="0" tIns="0" rIns="0" bIns="0" rtlCol="0" anchor="t"/>
          <a:lstStyle/>
          <a:p>
            <a:pPr marL="0" indent="0" algn="ctr">
              <a:lnSpc>
                <a:spcPct val="104000"/>
              </a:lnSpc>
              <a:buNone/>
            </a:pPr>
            <a:r>
              <a:rPr lang="en-US" sz="1250" dirty="0">
                <a:solidFill>
                  <a:srgbClr val="0C0D0F"/>
                </a:solidFill>
                <a:latin typeface="Inter" panose="02000503000000020004" pitchFamily="34" charset="0"/>
                <a:ea typeface="Inter" panose="02000503000000020004" pitchFamily="34" charset="-122"/>
                <a:cs typeface="Inter" panose="02000503000000020004" pitchFamily="34" charset="-120"/>
              </a:rPr>
              <a:t>Fake Login</a:t>
            </a:r>
            <a:endParaRPr lang="en-US" sz="1250" dirty="0"/>
          </a:p>
        </p:txBody>
      </p:sp>
      <p:sp>
        <p:nvSpPr>
          <p:cNvPr id="12" name="Text 9"/>
          <p:cNvSpPr/>
          <p:nvPr/>
        </p:nvSpPr>
        <p:spPr>
          <a:xfrm>
            <a:off x="3951589" y="1803089"/>
            <a:ext cx="1312780" cy="429742"/>
          </a:xfrm>
          <a:prstGeom prst="rect">
            <a:avLst/>
          </a:prstGeom>
          <a:noFill/>
        </p:spPr>
        <p:txBody>
          <a:bodyPr wrap="square" lIns="0" tIns="0" rIns="0" bIns="0" rtlCol="0" anchor="t">
            <a:normAutofit/>
          </a:bodyPr>
          <a:lstStyle/>
          <a:p>
            <a:pPr marL="0" indent="0" algn="ctr">
              <a:lnSpc>
                <a:spcPct val="92000"/>
              </a:lnSpc>
              <a:buNone/>
            </a:pPr>
            <a:r>
              <a:rPr lang="en-US" sz="1000" dirty="0">
                <a:solidFill>
                  <a:srgbClr val="55575A"/>
                </a:solidFill>
                <a:latin typeface="Manrope" pitchFamily="34" charset="0"/>
                <a:ea typeface="Manrope" pitchFamily="34" charset="-122"/>
                <a:cs typeface="Manrope" pitchFamily="34" charset="-120"/>
              </a:rPr>
              <a:t>Link opens a counterfeit bank page</a:t>
            </a:r>
            <a:endParaRPr lang="en-US" sz="1000" dirty="0"/>
          </a:p>
        </p:txBody>
      </p:sp>
      <p:sp>
        <p:nvSpPr>
          <p:cNvPr id="13" name="Text 10"/>
          <p:cNvSpPr/>
          <p:nvPr/>
        </p:nvSpPr>
        <p:spPr>
          <a:xfrm>
            <a:off x="827336" y="4567089"/>
            <a:ext cx="7489254" cy="268188"/>
          </a:xfrm>
          <a:prstGeom prst="rect">
            <a:avLst/>
          </a:prstGeom>
          <a:noFill/>
        </p:spPr>
        <p:txBody>
          <a:bodyPr wrap="square" lIns="0" tIns="0" rIns="0" bIns="0" rtlCol="0" anchor="t">
            <a:normAutofit/>
          </a:bodyPr>
          <a:lstStyle/>
          <a:p>
            <a:pPr marL="0" indent="0" algn="l">
              <a:lnSpc>
                <a:spcPct val="118000"/>
              </a:lnSpc>
              <a:buNone/>
            </a:pPr>
            <a:r>
              <a:rPr lang="en-US" sz="700" dirty="0">
                <a:solidFill>
                  <a:srgbClr val="55575A"/>
                </a:solidFill>
                <a:latin typeface="Manrope" pitchFamily="34" charset="0"/>
                <a:ea typeface="Manrope" pitchFamily="34" charset="-122"/>
                <a:cs typeface="Manrope" pitchFamily="34" charset="-120"/>
              </a:rPr>
              <a:t> This scenario demonstrates how a seemingly innocuous email can lead to significant data compromise. Always remember that legitimate organizations will not ask you to verify sensitive information via unsolicited emails or links.</a:t>
            </a:r>
            <a:endParaRPr lang="en-US" sz="700" dirty="0"/>
          </a:p>
        </p:txBody>
      </p:sp>
      <p:sp>
        <p:nvSpPr>
          <p:cNvPr id="23" name="Rectangle 22"/>
          <p:cNvSpPr/>
          <p:nvPr/>
        </p:nvSpPr>
        <p:spPr>
          <a:xfrm>
            <a:off x="7931785" y="4747895"/>
            <a:ext cx="1212215" cy="39624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6119" y="1085255"/>
            <a:ext cx="771748" cy="233214"/>
          </a:xfrm>
          <a:prstGeom prst="roundRect">
            <a:avLst>
              <a:gd name="adj" fmla="val 38297"/>
            </a:avLst>
          </a:prstGeom>
          <a:solidFill>
            <a:srgbClr val="FFD7CC"/>
          </a:solidFill>
        </p:spPr>
      </p:sp>
      <p:sp>
        <p:nvSpPr>
          <p:cNvPr id="3" name="Text 1"/>
          <p:cNvSpPr/>
          <p:nvPr/>
        </p:nvSpPr>
        <p:spPr>
          <a:xfrm>
            <a:off x="570533" y="1122462"/>
            <a:ext cx="1080120" cy="158800"/>
          </a:xfrm>
          <a:prstGeom prst="rect">
            <a:avLst/>
          </a:prstGeom>
          <a:noFill/>
        </p:spPr>
        <p:txBody>
          <a:bodyPr wrap="none" lIns="0" tIns="0" rIns="0" bIns="0" rtlCol="0" anchor="t"/>
          <a:lstStyle/>
          <a:p>
            <a:pPr marL="0" indent="0" algn="l">
              <a:lnSpc>
                <a:spcPct val="133000"/>
              </a:lnSpc>
              <a:buNone/>
            </a:pPr>
            <a:r>
              <a:rPr lang="en-US" sz="750" dirty="0">
                <a:solidFill>
                  <a:srgbClr val="55575A"/>
                </a:solidFill>
                <a:latin typeface="Manrope" pitchFamily="34" charset="0"/>
                <a:ea typeface="Manrope" pitchFamily="34" charset="-122"/>
                <a:cs typeface="Manrope" pitchFamily="34" charset="-120"/>
              </a:rPr>
              <a:t>CONCLUSION</a:t>
            </a:r>
            <a:endParaRPr lang="en-US" sz="750" dirty="0"/>
          </a:p>
        </p:txBody>
      </p:sp>
      <p:sp>
        <p:nvSpPr>
          <p:cNvPr id="4" name="Text 2"/>
          <p:cNvSpPr/>
          <p:nvPr/>
        </p:nvSpPr>
        <p:spPr>
          <a:xfrm>
            <a:off x="496119" y="1368028"/>
            <a:ext cx="3870573" cy="310083"/>
          </a:xfrm>
          <a:prstGeom prst="rect">
            <a:avLst/>
          </a:prstGeom>
          <a:noFill/>
        </p:spPr>
        <p:txBody>
          <a:bodyPr wrap="none" lIns="0" tIns="0" rIns="0" bIns="0" rtlCol="0" anchor="t"/>
          <a:lstStyle/>
          <a:p>
            <a:pPr marL="0" indent="0" algn="l">
              <a:lnSpc>
                <a:spcPct val="104000"/>
              </a:lnSpc>
              <a:buNone/>
            </a:pPr>
            <a:r>
              <a:rPr lang="en-US" sz="1950" dirty="0">
                <a:solidFill>
                  <a:srgbClr val="0C0D0F"/>
                </a:solidFill>
                <a:latin typeface="Inter" panose="02000503000000020004" pitchFamily="34" charset="0"/>
                <a:ea typeface="Inter" panose="02000503000000020004" pitchFamily="34" charset="-122"/>
                <a:cs typeface="Inter" panose="02000503000000020004" pitchFamily="34" charset="-120"/>
              </a:rPr>
              <a:t>Empowered Against Phishing</a:t>
            </a:r>
            <a:endParaRPr lang="en-US" sz="1950" dirty="0"/>
          </a:p>
        </p:txBody>
      </p:sp>
      <p:sp>
        <p:nvSpPr>
          <p:cNvPr id="5" name="Text 3"/>
          <p:cNvSpPr/>
          <p:nvPr/>
        </p:nvSpPr>
        <p:spPr>
          <a:xfrm>
            <a:off x="496119" y="1864147"/>
            <a:ext cx="8151763" cy="595387"/>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 Phishing attacks fundamentally rely on human error, not just technical vulnerabilities. While security systems are vital, the most effective defense is a well-informed and vigilant user base. Your awareness and careful actions are the strongest barriers against these pervasive cyber threats. </a:t>
            </a:r>
            <a:endParaRPr lang="en-US" sz="950" dirty="0"/>
          </a:p>
        </p:txBody>
      </p:sp>
      <p:sp>
        <p:nvSpPr>
          <p:cNvPr id="6" name="Shape 4"/>
          <p:cNvSpPr/>
          <p:nvPr/>
        </p:nvSpPr>
        <p:spPr>
          <a:xfrm>
            <a:off x="496119" y="2599060"/>
            <a:ext cx="8151763" cy="922660"/>
          </a:xfrm>
          <a:prstGeom prst="roundRect">
            <a:avLst>
              <a:gd name="adj" fmla="val 12100"/>
            </a:avLst>
          </a:prstGeom>
          <a:solidFill>
            <a:srgbClr val="FFFFFF"/>
          </a:solidFill>
          <a:ln w="4763">
            <a:solidFill>
              <a:srgbClr val="FF7047"/>
            </a:solidFill>
            <a:prstDash val="solid"/>
          </a:ln>
        </p:spPr>
      </p:sp>
      <p:sp>
        <p:nvSpPr>
          <p:cNvPr id="7" name="Shape 5"/>
          <p:cNvSpPr/>
          <p:nvPr/>
        </p:nvSpPr>
        <p:spPr>
          <a:xfrm>
            <a:off x="500881" y="2603822"/>
            <a:ext cx="2714030" cy="913135"/>
          </a:xfrm>
          <a:prstGeom prst="roundRect">
            <a:avLst>
              <a:gd name="adj" fmla="val 12226"/>
            </a:avLst>
          </a:prstGeom>
          <a:solidFill>
            <a:srgbClr val="FFFFFF"/>
          </a:solidFill>
        </p:spPr>
      </p:sp>
      <p:sp>
        <p:nvSpPr>
          <p:cNvPr id="8" name="Text 6"/>
          <p:cNvSpPr/>
          <p:nvPr/>
        </p:nvSpPr>
        <p:spPr>
          <a:xfrm>
            <a:off x="624855" y="2727796"/>
            <a:ext cx="1550566" cy="193849"/>
          </a:xfrm>
          <a:prstGeom prst="rect">
            <a:avLst/>
          </a:prstGeom>
          <a:noFill/>
        </p:spPr>
        <p:txBody>
          <a:bodyPr wrap="none" lIns="0" tIns="0" rIns="0" bIns="0" rtlCol="0" anchor="t"/>
          <a:lstStyle/>
          <a:p>
            <a:pPr marL="0" indent="0" algn="l">
              <a:lnSpc>
                <a:spcPct val="104000"/>
              </a:lnSpc>
              <a:buNone/>
            </a:pPr>
            <a:r>
              <a:rPr lang="en-US" sz="1200" dirty="0">
                <a:solidFill>
                  <a:srgbClr val="55575A"/>
                </a:solidFill>
                <a:latin typeface="Inter" panose="02000503000000020004" pitchFamily="34" charset="0"/>
                <a:ea typeface="Inter" panose="02000503000000020004" pitchFamily="34" charset="-122"/>
                <a:cs typeface="Inter" panose="02000503000000020004" pitchFamily="34" charset="-120"/>
              </a:rPr>
              <a:t>Identify Attempts</a:t>
            </a:r>
            <a:endParaRPr lang="en-US" sz="1200" dirty="0"/>
          </a:p>
        </p:txBody>
      </p:sp>
      <p:sp>
        <p:nvSpPr>
          <p:cNvPr id="9" name="Text 7"/>
          <p:cNvSpPr/>
          <p:nvPr/>
        </p:nvSpPr>
        <p:spPr>
          <a:xfrm>
            <a:off x="624855" y="2996059"/>
            <a:ext cx="2466082" cy="396925"/>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Users are now equipped to recognize the various forms of phishing.</a:t>
            </a:r>
            <a:endParaRPr lang="en-US" sz="950" dirty="0"/>
          </a:p>
        </p:txBody>
      </p:sp>
      <p:sp>
        <p:nvSpPr>
          <p:cNvPr id="10" name="Shape 8"/>
          <p:cNvSpPr/>
          <p:nvPr/>
        </p:nvSpPr>
        <p:spPr>
          <a:xfrm>
            <a:off x="3214911" y="2603822"/>
            <a:ext cx="2714104" cy="913135"/>
          </a:xfrm>
          <a:prstGeom prst="rect">
            <a:avLst/>
          </a:prstGeom>
          <a:solidFill>
            <a:srgbClr val="FFFFFF"/>
          </a:solidFill>
        </p:spPr>
      </p:sp>
      <p:sp>
        <p:nvSpPr>
          <p:cNvPr id="11" name="Shape 9"/>
          <p:cNvSpPr/>
          <p:nvPr/>
        </p:nvSpPr>
        <p:spPr>
          <a:xfrm>
            <a:off x="3214911" y="2603822"/>
            <a:ext cx="14288" cy="913135"/>
          </a:xfrm>
          <a:prstGeom prst="roundRect">
            <a:avLst>
              <a:gd name="adj" fmla="val 781369"/>
            </a:avLst>
          </a:prstGeom>
          <a:solidFill>
            <a:srgbClr val="E5562D"/>
          </a:solidFill>
        </p:spPr>
      </p:sp>
      <p:sp>
        <p:nvSpPr>
          <p:cNvPr id="12" name="Text 10"/>
          <p:cNvSpPr/>
          <p:nvPr/>
        </p:nvSpPr>
        <p:spPr>
          <a:xfrm>
            <a:off x="3338885" y="2727796"/>
            <a:ext cx="1550566" cy="193849"/>
          </a:xfrm>
          <a:prstGeom prst="rect">
            <a:avLst/>
          </a:prstGeom>
          <a:noFill/>
        </p:spPr>
        <p:txBody>
          <a:bodyPr wrap="none" lIns="0" tIns="0" rIns="0" bIns="0" rtlCol="0" anchor="t"/>
          <a:lstStyle/>
          <a:p>
            <a:pPr marL="0" indent="0" algn="l">
              <a:lnSpc>
                <a:spcPct val="104000"/>
              </a:lnSpc>
              <a:buNone/>
            </a:pPr>
            <a:r>
              <a:rPr lang="en-US" sz="1200" dirty="0">
                <a:solidFill>
                  <a:srgbClr val="55575A"/>
                </a:solidFill>
                <a:latin typeface="Inter" panose="02000503000000020004" pitchFamily="34" charset="0"/>
                <a:ea typeface="Inter" panose="02000503000000020004" pitchFamily="34" charset="-122"/>
                <a:cs typeface="Inter" panose="02000503000000020004" pitchFamily="34" charset="-120"/>
              </a:rPr>
              <a:t>Reduce Risk</a:t>
            </a:r>
            <a:endParaRPr lang="en-US" sz="1200" dirty="0"/>
          </a:p>
        </p:txBody>
      </p:sp>
      <p:sp>
        <p:nvSpPr>
          <p:cNvPr id="13" name="Text 11"/>
          <p:cNvSpPr/>
          <p:nvPr/>
        </p:nvSpPr>
        <p:spPr>
          <a:xfrm>
            <a:off x="3338885" y="2996059"/>
            <a:ext cx="2466156" cy="396925"/>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A significant decrease in successful cyber attacks is expected.</a:t>
            </a:r>
            <a:endParaRPr lang="en-US" sz="950" dirty="0"/>
          </a:p>
        </p:txBody>
      </p:sp>
      <p:sp>
        <p:nvSpPr>
          <p:cNvPr id="14" name="Shape 12"/>
          <p:cNvSpPr/>
          <p:nvPr/>
        </p:nvSpPr>
        <p:spPr>
          <a:xfrm>
            <a:off x="5929015" y="2603822"/>
            <a:ext cx="2714104" cy="913135"/>
          </a:xfrm>
          <a:prstGeom prst="rect">
            <a:avLst/>
          </a:prstGeom>
          <a:solidFill>
            <a:srgbClr val="FFFFFF"/>
          </a:solidFill>
        </p:spPr>
      </p:sp>
      <p:sp>
        <p:nvSpPr>
          <p:cNvPr id="15" name="Shape 13"/>
          <p:cNvSpPr/>
          <p:nvPr/>
        </p:nvSpPr>
        <p:spPr>
          <a:xfrm>
            <a:off x="5929015" y="2603822"/>
            <a:ext cx="14288" cy="913135"/>
          </a:xfrm>
          <a:prstGeom prst="roundRect">
            <a:avLst>
              <a:gd name="adj" fmla="val 781369"/>
            </a:avLst>
          </a:prstGeom>
          <a:solidFill>
            <a:srgbClr val="E5562D"/>
          </a:solidFill>
        </p:spPr>
      </p:sp>
      <p:sp>
        <p:nvSpPr>
          <p:cNvPr id="16" name="Text 14"/>
          <p:cNvSpPr/>
          <p:nvPr/>
        </p:nvSpPr>
        <p:spPr>
          <a:xfrm>
            <a:off x="6052989" y="2727796"/>
            <a:ext cx="1550566" cy="193849"/>
          </a:xfrm>
          <a:prstGeom prst="rect">
            <a:avLst/>
          </a:prstGeom>
          <a:noFill/>
        </p:spPr>
        <p:txBody>
          <a:bodyPr wrap="none" lIns="0" tIns="0" rIns="0" bIns="0" rtlCol="0" anchor="t"/>
          <a:lstStyle/>
          <a:p>
            <a:pPr marL="0" indent="0" algn="l">
              <a:lnSpc>
                <a:spcPct val="104000"/>
              </a:lnSpc>
              <a:buNone/>
            </a:pPr>
            <a:r>
              <a:rPr lang="en-US" sz="1200" dirty="0">
                <a:solidFill>
                  <a:srgbClr val="55575A"/>
                </a:solidFill>
                <a:latin typeface="Inter" panose="02000503000000020004" pitchFamily="34" charset="0"/>
                <a:ea typeface="Inter" panose="02000503000000020004" pitchFamily="34" charset="-122"/>
                <a:cs typeface="Inter" panose="02000503000000020004" pitchFamily="34" charset="-120"/>
              </a:rPr>
              <a:t>Boost Security</a:t>
            </a:r>
            <a:endParaRPr lang="en-US" sz="1200" dirty="0"/>
          </a:p>
        </p:txBody>
      </p:sp>
      <p:sp>
        <p:nvSpPr>
          <p:cNvPr id="17" name="Text 15"/>
          <p:cNvSpPr/>
          <p:nvPr/>
        </p:nvSpPr>
        <p:spPr>
          <a:xfrm>
            <a:off x="6052989" y="2996059"/>
            <a:ext cx="2466156" cy="396925"/>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Overall organizational security posture is greatly enhanced.</a:t>
            </a:r>
            <a:endParaRPr lang="en-US" sz="950" dirty="0"/>
          </a:p>
        </p:txBody>
      </p:sp>
      <p:sp>
        <p:nvSpPr>
          <p:cNvPr id="18" name="Text 16"/>
          <p:cNvSpPr/>
          <p:nvPr/>
        </p:nvSpPr>
        <p:spPr>
          <a:xfrm>
            <a:off x="496119" y="3661246"/>
            <a:ext cx="8151763" cy="396925"/>
          </a:xfrm>
          <a:prstGeom prst="rect">
            <a:avLst/>
          </a:prstGeom>
          <a:noFill/>
        </p:spPr>
        <p:txBody>
          <a:bodyPr wrap="square" lIns="0" tIns="0" rIns="0" bIns="0" rtlCol="0" anchor="t">
            <a:normAutofit/>
          </a:bodyPr>
          <a:lstStyle/>
          <a:p>
            <a:pPr marL="0" indent="0" algn="l">
              <a:lnSpc>
                <a:spcPct val="133000"/>
              </a:lnSpc>
              <a:buNone/>
            </a:pPr>
            <a:r>
              <a:rPr lang="en-US" sz="950" dirty="0">
                <a:solidFill>
                  <a:srgbClr val="55575A"/>
                </a:solidFill>
                <a:latin typeface="Manrope" pitchFamily="34" charset="0"/>
                <a:ea typeface="Manrope" pitchFamily="34" charset="-122"/>
                <a:cs typeface="Manrope" pitchFamily="34" charset="-120"/>
              </a:rPr>
              <a:t> By staying informed, questioning suspicious communications, and adhering to best practices, you become an active participant in our collective cybersecurity. Thank you for your commitment to a safer digital environment.</a:t>
            </a:r>
            <a:endParaRPr lang="en-US" sz="950" dirty="0"/>
          </a:p>
        </p:txBody>
      </p:sp>
      <p:sp>
        <p:nvSpPr>
          <p:cNvPr id="23" name="Rectangle 22"/>
          <p:cNvSpPr/>
          <p:nvPr/>
        </p:nvSpPr>
        <p:spPr>
          <a:xfrm>
            <a:off x="7931785" y="4747895"/>
            <a:ext cx="1212215" cy="39624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theme/theme1.xml><?xml version="1.0" encoding="utf-8"?>
<a:theme xmlns:a="http://schemas.openxmlformats.org/drawingml/2006/main" name="Office Theme">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6967</Words>
  <Application>WPS Presentation</Application>
  <PresentationFormat>On-screen Show (16:9)</PresentationFormat>
  <Paragraphs>196</Paragraphs>
  <Slides>10</Slides>
  <Notes>10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vt:i4>
      </vt:variant>
    </vt:vector>
  </HeadingPairs>
  <TitlesOfParts>
    <vt:vector size="23" baseType="lpstr">
      <vt:lpstr>Arial</vt:lpstr>
      <vt:lpstr>SimSun</vt:lpstr>
      <vt:lpstr>Wingdings</vt:lpstr>
      <vt:lpstr>Inter</vt:lpstr>
      <vt:lpstr>Inter</vt:lpstr>
      <vt:lpstr>Inter</vt:lpstr>
      <vt:lpstr>Manrope</vt:lpstr>
      <vt:lpstr>Manrope</vt:lpstr>
      <vt:lpstr>Manrope</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Vignesh</cp:lastModifiedBy>
  <cp:revision>3</cp:revision>
  <dcterms:created xsi:type="dcterms:W3CDTF">2026-06-03T04:42:00Z</dcterms:created>
  <dcterms:modified xsi:type="dcterms:W3CDTF">2026-06-03T05:16:18Z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40CE8B30A2C04325AF70A9F9B8DFD724_12</vt:lpwstr>
  </property>
</Properties>
</file>