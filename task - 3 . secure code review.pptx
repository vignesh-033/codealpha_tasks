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Alice" pitchFamily="34" charset="0"/>
      <p:regular r:id="rId17"/>
    </p:embeddedFont>
    <p:embeddedFont>
      <p:font typeface="Alice" pitchFamily="34" charset="-122"/>
      <p:regular r:id="rId18"/>
    </p:embeddedFont>
    <p:embeddedFont>
      <p:font typeface="Alice" pitchFamily="34" charset="-120"/>
      <p:regular r:id="rId19"/>
    </p:embeddedFont>
    <p:embeddedFont>
      <p:font typeface="Lora" pitchFamily="34" charset="0"/>
      <p:regular r:id="rId20"/>
    </p:embeddedFont>
    <p:embeddedFont>
      <p:font typeface="Lora" pitchFamily="34" charset="-122"/>
      <p:regular r:id="rId21"/>
    </p:embeddedFont>
    <p:embeddedFont>
      <p:font typeface="Lora" pitchFamily="34" charset="-120"/>
      <p:regular r:id="rId22"/>
    </p:embeddedFont>
    <p:embeddedFont>
      <p:font typeface="Consolas" panose="020B0609020204030204" pitchFamily="34" charset="0"/>
      <p:regular r:id="rId23"/>
      <p:bold r:id="rId24"/>
      <p:italic r:id="rId25"/>
      <p:boldItalic r:id="rId26"/>
    </p:embeddedFont>
    <p:embeddedFont>
      <p:font typeface="Consolas" panose="020B0609020204030204" pitchFamily="34" charset="-122"/>
      <p:regular r:id="rId27"/>
      <p:bold r:id="rId28"/>
      <p:italic r:id="rId29"/>
      <p:boldItalic r:id="rId30"/>
    </p:embeddedFont>
    <p:embeddedFont>
      <p:font typeface="Consolas" panose="020B0609020204030204" pitchFamily="34" charset="-120"/>
      <p:regular r:id="rId31"/>
      <p:bold r:id="rId32"/>
      <p:italic r:id="rId33"/>
      <p:boldItalic r:id="rId34"/>
    </p:embeddedFont>
    <p:embeddedFont>
      <p:font typeface="Calibri" panose="020F0502020204030204" charset="0"/>
      <p:regular r:id="rId35"/>
      <p:bold r:id="rId36"/>
      <p:italic r:id="rId37"/>
      <p:boldItalic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font" Target="fonts/font22.fntdata"/><Relationship Id="rId37" Type="http://schemas.openxmlformats.org/officeDocument/2006/relationships/font" Target="fonts/font21.fntdata"/><Relationship Id="rId36" Type="http://schemas.openxmlformats.org/officeDocument/2006/relationships/font" Target="fonts/font20.fntdata"/><Relationship Id="rId35" Type="http://schemas.openxmlformats.org/officeDocument/2006/relationships/font" Target="fonts/font19.fntdata"/><Relationship Id="rId34" Type="http://schemas.openxmlformats.org/officeDocument/2006/relationships/font" Target="fonts/font18.fntdata"/><Relationship Id="rId33" Type="http://schemas.openxmlformats.org/officeDocument/2006/relationships/font" Target="fonts/font17.fntdata"/><Relationship Id="rId32" Type="http://schemas.openxmlformats.org/officeDocument/2006/relationships/font" Target="fonts/font16.fntdata"/><Relationship Id="rId31" Type="http://schemas.openxmlformats.org/officeDocument/2006/relationships/font" Target="fonts/font15.fntdata"/><Relationship Id="rId30" Type="http://schemas.openxmlformats.org/officeDocument/2006/relationships/font" Target="fonts/font14.fntdata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Relationship Id="rId3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6132"/>
            <a:ext cx="3558332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Secure Coding Review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369716"/>
            <a:ext cx="4722763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structured security audit of a </a:t>
            </a: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Python-based Network Sniffer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built with Scapy — examining vulnerabilities, applying fixes, and establishing best practices for safer software development.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3109392"/>
            <a:ext cx="965299" cy="233214"/>
          </a:xfrm>
          <a:prstGeom prst="roundRect">
            <a:avLst>
              <a:gd name="adj" fmla="val 6383"/>
            </a:avLst>
          </a:prstGeom>
          <a:solidFill>
            <a:srgbClr val="D7F4E4"/>
          </a:solidFill>
        </p:spPr>
      </p:sp>
      <p:sp>
        <p:nvSpPr>
          <p:cNvPr id="6" name="Text 3"/>
          <p:cNvSpPr/>
          <p:nvPr/>
        </p:nvSpPr>
        <p:spPr>
          <a:xfrm>
            <a:off x="570533" y="3146599"/>
            <a:ext cx="1273671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SECURITY AUDIT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523405" y="3104629"/>
            <a:ext cx="963662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2581" y="3146599"/>
            <a:ext cx="1262509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 · SCAPY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549054" y="3104629"/>
            <a:ext cx="1176338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28230" y="3146599"/>
            <a:ext cx="1475184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NETWORK SECURITY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3942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We Reviewed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187351"/>
            <a:ext cx="3558332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Application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06822" y="1760934"/>
            <a:ext cx="4525863" cy="2438623"/>
          </a:xfrm>
          <a:prstGeom prst="roundRect">
            <a:avLst>
              <a:gd name="adj" fmla="val 763"/>
            </a:avLst>
          </a:prstGeom>
          <a:solidFill>
            <a:srgbClr val="1B5F39"/>
          </a:solidFill>
        </p:spPr>
      </p:sp>
      <p:sp>
        <p:nvSpPr>
          <p:cNvPr id="5" name="Text 3"/>
          <p:cNvSpPr/>
          <p:nvPr/>
        </p:nvSpPr>
        <p:spPr>
          <a:xfrm>
            <a:off x="530796" y="1884908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Application Profile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2202731"/>
            <a:ext cx="4277916" cy="11287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Language:</a:t>
            </a: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Python</a:t>
            </a: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Library:</a:t>
            </a: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Scapy (packet manipulation)</a:t>
            </a: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Purpose:</a:t>
            </a: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Capture and analyze live network packets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Scope:</a:t>
            </a: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Basic sniffer with user-defined interface input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50718" y="1884908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50718" y="2202731"/>
            <a:ext cx="3501851" cy="7938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Network sniffers operate at a privileged level — they can intercept sensitive traffic including passwords, tokens, and personal data. A poorly secured sniffer can become a powerful attack tool in the wrong hands.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150718" y="3136106"/>
            <a:ext cx="3501851" cy="923925"/>
          </a:xfrm>
          <a:prstGeom prst="roundRect">
            <a:avLst>
              <a:gd name="adj" fmla="val 2014"/>
            </a:avLst>
          </a:prstGeom>
          <a:solidFill>
            <a:srgbClr val="FCF2B5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4692" y="3325416"/>
            <a:ext cx="155004" cy="1239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53670" y="3291036"/>
            <a:ext cx="2974925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This review focuses on identifying and remediating security gaps before the application reaches production use.</a:t>
            </a:r>
            <a:endParaRPr lang="en-US" sz="950" dirty="0"/>
          </a:p>
        </p:txBody>
      </p:sp>
      <p:sp>
        <p:nvSpPr>
          <p:cNvPr id="12" name="Rectangle 11"/>
          <p:cNvSpPr/>
          <p:nvPr/>
        </p:nvSpPr>
        <p:spPr>
          <a:xfrm>
            <a:off x="7976235" y="4766310"/>
            <a:ext cx="112776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1901" y="373261"/>
            <a:ext cx="1935063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3901901" y="602977"/>
            <a:ext cx="3494038" cy="3694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Code Review Approach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3901901" y="1141437"/>
            <a:ext cx="4769197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Two complementary methods were used to thoroughly assess the application's security posture — combining human expertise with automated tooling.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901901" y="1637556"/>
            <a:ext cx="2328267" cy="1694706"/>
          </a:xfrm>
          <a:prstGeom prst="roundRect">
            <a:avLst>
              <a:gd name="adj" fmla="val 1046"/>
            </a:avLst>
          </a:prstGeom>
          <a:solidFill>
            <a:srgbClr val="F0EDE6"/>
          </a:solidFill>
        </p:spPr>
      </p:sp>
      <p:sp>
        <p:nvSpPr>
          <p:cNvPr id="7" name="Shape 4"/>
          <p:cNvSpPr/>
          <p:nvPr/>
        </p:nvSpPr>
        <p:spPr>
          <a:xfrm>
            <a:off x="4020071" y="1755725"/>
            <a:ext cx="354657" cy="354657"/>
          </a:xfrm>
          <a:prstGeom prst="roundRect">
            <a:avLst>
              <a:gd name="adj" fmla="val 16112550"/>
            </a:avLst>
          </a:prstGeom>
          <a:solidFill>
            <a:srgbClr val="1B5F39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7628" y="1853208"/>
            <a:ext cx="159544" cy="1595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20071" y="2223046"/>
            <a:ext cx="1594991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Manual Code Inspection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020071" y="2475309"/>
            <a:ext cx="2091928" cy="738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Line-by-line review of source code to identify logic flaws, insecure patterns, and design weaknesses that automated tools may miss.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342831" y="1637556"/>
            <a:ext cx="2328267" cy="1694706"/>
          </a:xfrm>
          <a:prstGeom prst="roundRect">
            <a:avLst>
              <a:gd name="adj" fmla="val 1046"/>
            </a:avLst>
          </a:prstGeom>
          <a:solidFill>
            <a:srgbClr val="F0EDE6"/>
          </a:solidFill>
        </p:spPr>
      </p:sp>
      <p:sp>
        <p:nvSpPr>
          <p:cNvPr id="12" name="Shape 8"/>
          <p:cNvSpPr/>
          <p:nvPr/>
        </p:nvSpPr>
        <p:spPr>
          <a:xfrm>
            <a:off x="6461001" y="1755725"/>
            <a:ext cx="354657" cy="354657"/>
          </a:xfrm>
          <a:prstGeom prst="roundRect">
            <a:avLst>
              <a:gd name="adj" fmla="val 16112550"/>
            </a:avLst>
          </a:prstGeom>
          <a:solidFill>
            <a:srgbClr val="1B5F39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8558" y="1853208"/>
            <a:ext cx="159544" cy="1595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61001" y="2223046"/>
            <a:ext cx="1594768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Static Analysis — Bandit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461001" y="2475309"/>
            <a:ext cx="2091928" cy="738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Python-specific security analyzer that scans for common vulnerabilities like unsafe input handling, hardcoded credentials, and weak cryptography.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3901901" y="3444925"/>
            <a:ext cx="4769197" cy="1325314"/>
          </a:xfrm>
          <a:prstGeom prst="roundRect">
            <a:avLst>
              <a:gd name="adj" fmla="val 1338"/>
            </a:avLst>
          </a:prstGeom>
          <a:solidFill>
            <a:srgbClr val="F0EDE6"/>
          </a:solidFill>
        </p:spPr>
      </p:sp>
      <p:sp>
        <p:nvSpPr>
          <p:cNvPr id="17" name="Shape 12"/>
          <p:cNvSpPr/>
          <p:nvPr/>
        </p:nvSpPr>
        <p:spPr>
          <a:xfrm>
            <a:off x="4020071" y="3563094"/>
            <a:ext cx="354657" cy="354657"/>
          </a:xfrm>
          <a:prstGeom prst="roundRect">
            <a:avLst>
              <a:gd name="adj" fmla="val 16112550"/>
            </a:avLst>
          </a:prstGeom>
          <a:solidFill>
            <a:srgbClr val="1B5F39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7628" y="3660577"/>
            <a:ext cx="159544" cy="1595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020071" y="4030414"/>
            <a:ext cx="1477863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Code Quality — Flake8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020071" y="4282678"/>
            <a:ext cx="4532858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Style and quality checker enforcing PEP 8 standards, helping surface inconsistent or potentially problematic code constructs.</a:t>
            </a:r>
            <a:endParaRPr lang="en-US" sz="900" dirty="0"/>
          </a:p>
        </p:txBody>
      </p:sp>
      <p:sp>
        <p:nvSpPr>
          <p:cNvPr id="21" name="Rectangle 20"/>
          <p:cNvSpPr/>
          <p:nvPr/>
        </p:nvSpPr>
        <p:spPr>
          <a:xfrm>
            <a:off x="7976235" y="4766310"/>
            <a:ext cx="112776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0974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Vulnerability #1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894383"/>
            <a:ext cx="3761780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Lack of Input Validation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1591940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⚠️</a:t>
            </a: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1909762"/>
            <a:ext cx="3924598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User-supplied input (e.g., interface name) is passed directly to </a:t>
            </a:r>
            <a:r>
              <a:rPr lang="en-US" sz="95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sniff()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with no validation. A malicious user could supply an invalid interface, causing crashes or unintended behavior.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644676"/>
            <a:ext cx="3924598" cy="644872"/>
          </a:xfrm>
          <a:prstGeom prst="roundRect">
            <a:avLst>
              <a:gd name="adj" fmla="val 2885"/>
            </a:avLst>
          </a:prstGeom>
          <a:solidFill>
            <a:srgbClr val="EFEEEB"/>
          </a:solidFill>
        </p:spPr>
      </p:sp>
      <p:sp>
        <p:nvSpPr>
          <p:cNvPr id="7" name="Shape 5"/>
          <p:cNvSpPr/>
          <p:nvPr/>
        </p:nvSpPr>
        <p:spPr>
          <a:xfrm>
            <a:off x="489942" y="2644676"/>
            <a:ext cx="3936950" cy="644872"/>
          </a:xfrm>
          <a:prstGeom prst="roundRect">
            <a:avLst>
              <a:gd name="adj" fmla="val 2885"/>
            </a:avLst>
          </a:prstGeom>
          <a:solidFill>
            <a:srgbClr val="EFEEEB"/>
          </a:solidFill>
        </p:spPr>
      </p:sp>
      <p:sp>
        <p:nvSpPr>
          <p:cNvPr id="8" name="Text 6"/>
          <p:cNvSpPr/>
          <p:nvPr/>
        </p:nvSpPr>
        <p:spPr>
          <a:xfrm>
            <a:off x="644947" y="2768650"/>
            <a:ext cx="3626941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EFEEE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interface = input("Enter interface: ")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EFEEE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sniff(iface=interface)  # Dangerous!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8749" y="1467966"/>
            <a:ext cx="4103191" cy="2358033"/>
          </a:xfrm>
          <a:prstGeom prst="roundRect">
            <a:avLst>
              <a:gd name="adj" fmla="val 789"/>
            </a:avLst>
          </a:prstGeom>
          <a:solidFill>
            <a:srgbClr val="1B5F39"/>
          </a:solidFill>
        </p:spPr>
      </p:sp>
      <p:sp>
        <p:nvSpPr>
          <p:cNvPr id="10" name="Text 8"/>
          <p:cNvSpPr/>
          <p:nvPr/>
        </p:nvSpPr>
        <p:spPr>
          <a:xfrm>
            <a:off x="4762723" y="1591940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✅</a:t>
            </a: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The Fix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723" y="1909762"/>
            <a:ext cx="3855244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Validate input against a whitelist of available interfaces before use. This prevents arbitrary or malicious values from reaching the underlying system call.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62723" y="2644676"/>
            <a:ext cx="3855244" cy="1041797"/>
          </a:xfrm>
          <a:prstGeom prst="roundRect">
            <a:avLst>
              <a:gd name="adj" fmla="val 1786"/>
            </a:avLst>
          </a:prstGeom>
          <a:solidFill>
            <a:srgbClr val="286C46"/>
          </a:solidFill>
        </p:spPr>
      </p:sp>
      <p:sp>
        <p:nvSpPr>
          <p:cNvPr id="13" name="Shape 11"/>
          <p:cNvSpPr/>
          <p:nvPr/>
        </p:nvSpPr>
        <p:spPr>
          <a:xfrm>
            <a:off x="4756547" y="2644676"/>
            <a:ext cx="3867596" cy="1041797"/>
          </a:xfrm>
          <a:prstGeom prst="roundRect">
            <a:avLst>
              <a:gd name="adj" fmla="val 1786"/>
            </a:avLst>
          </a:prstGeom>
          <a:solidFill>
            <a:srgbClr val="286C46"/>
          </a:solidFill>
        </p:spPr>
      </p:sp>
      <p:sp>
        <p:nvSpPr>
          <p:cNvPr id="14" name="Text 12"/>
          <p:cNvSpPr/>
          <p:nvPr/>
        </p:nvSpPr>
        <p:spPr>
          <a:xfrm>
            <a:off x="4911551" y="2768650"/>
            <a:ext cx="3557588" cy="7938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highlight>
                  <a:srgbClr val="286C46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interface not in get_if_list():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highlight>
                  <a:srgbClr val="286C46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</a:t>
            </a: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highlight>
                  <a:srgbClr val="286C46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if </a:t>
            </a: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highlight>
                  <a:srgbClr val="286C46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int("Invalid interface")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highlight>
                  <a:srgbClr val="286C46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highlight>
                  <a:srgbClr val="286C46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sniff(iface=interface)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  <a:highlight>
                <a:srgbClr val="286C46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96119" y="3965525"/>
            <a:ext cx="8151763" cy="527000"/>
          </a:xfrm>
          <a:prstGeom prst="roundRect">
            <a:avLst>
              <a:gd name="adj" fmla="val 3531"/>
            </a:avLst>
          </a:prstGeom>
          <a:solidFill>
            <a:srgbClr val="B6D6FC"/>
          </a:solidFill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4154835"/>
            <a:ext cx="155004" cy="12397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99071" y="4120455"/>
            <a:ext cx="8082037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Principle:</a:t>
            </a: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Always validate and sanitize user inputs. Prefer whitelisting over blacklisting — only allow known-good values.</a:t>
            </a:r>
            <a:endParaRPr lang="en-US" sz="950" dirty="0"/>
          </a:p>
        </p:txBody>
      </p:sp>
      <p:sp>
        <p:nvSpPr>
          <p:cNvPr id="18" name="Rectangle 17"/>
          <p:cNvSpPr/>
          <p:nvPr/>
        </p:nvSpPr>
        <p:spPr>
          <a:xfrm>
            <a:off x="7976235" y="4766310"/>
            <a:ext cx="112776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365"/>
            <a:ext cx="205762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Vulnerabilities #2 &amp; #3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663773"/>
            <a:ext cx="7378303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Elevated Privileges &amp; Missing Exception Handling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37357"/>
            <a:ext cx="1759223" cy="10872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479625"/>
            <a:ext cx="229768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Running with Elevated Privileges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747888"/>
            <a:ext cx="3998342" cy="7938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Packet sniffing requires </a:t>
            </a:r>
            <a:r>
              <a:rPr lang="en-US" sz="95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root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/</a:t>
            </a:r>
            <a:r>
              <a:rPr lang="en-US" sz="95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admin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access. If exploited, an attacker gains high-level system control. </a:t>
            </a: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Recommendation: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Run with least privilege, use a sandbox or container (e.g., Docker) to isolate the process from the host system.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465" y="1237357"/>
            <a:ext cx="1759297" cy="10872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9465" y="2479625"/>
            <a:ext cx="158911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 Exception Handling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49465" y="2747888"/>
            <a:ext cx="3998416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Runtime errors cause unhandled crashes, potentially enabling Denial of Service (DoS) attacks. Wrap all risky operations in </a:t>
            </a:r>
            <a:r>
              <a:rPr lang="en-US" sz="95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try/except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blocks and avoid exposing internal error details to users.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96119" y="3681264"/>
            <a:ext cx="8151763" cy="1041797"/>
          </a:xfrm>
          <a:prstGeom prst="roundRect">
            <a:avLst>
              <a:gd name="adj" fmla="val 1786"/>
            </a:avLst>
          </a:prstGeom>
          <a:solidFill>
            <a:srgbClr val="EFEEEB"/>
          </a:solidFill>
        </p:spPr>
      </p:sp>
      <p:sp>
        <p:nvSpPr>
          <p:cNvPr id="11" name="Shape 7"/>
          <p:cNvSpPr/>
          <p:nvPr/>
        </p:nvSpPr>
        <p:spPr>
          <a:xfrm>
            <a:off x="489942" y="3681264"/>
            <a:ext cx="8164116" cy="1041797"/>
          </a:xfrm>
          <a:prstGeom prst="roundRect">
            <a:avLst>
              <a:gd name="adj" fmla="val 1786"/>
            </a:avLst>
          </a:prstGeom>
          <a:solidFill>
            <a:srgbClr val="EFEEEB"/>
          </a:solidFill>
        </p:spPr>
      </p:sp>
      <p:sp>
        <p:nvSpPr>
          <p:cNvPr id="12" name="Text 8"/>
          <p:cNvSpPr/>
          <p:nvPr/>
        </p:nvSpPr>
        <p:spPr>
          <a:xfrm>
            <a:off x="644947" y="3805238"/>
            <a:ext cx="7854107" cy="7938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EFEEE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try: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EFEEE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sniff(iface=interface)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EFEEE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except Exception as e: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EFEEE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print("Error:", e) # Log internally, show generic message</a:t>
            </a:r>
            <a:endParaRPr lang="en-US" sz="950" dirty="0"/>
          </a:p>
        </p:txBody>
      </p:sp>
      <p:sp>
        <p:nvSpPr>
          <p:cNvPr id="13" name="Rectangle 12"/>
          <p:cNvSpPr/>
          <p:nvPr/>
        </p:nvSpPr>
        <p:spPr>
          <a:xfrm>
            <a:off x="7976235" y="4766310"/>
            <a:ext cx="112776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5738"/>
            <a:ext cx="2058144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Vulnerabilities #4 &amp; #5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029146"/>
            <a:ext cx="5796855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Sensitive Data Exposure &amp; No Logging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1726704"/>
            <a:ext cx="2137618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Sensitive Data Exposure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2044526"/>
            <a:ext cx="3924598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original code prints raw packet payloads directly — potentially exposing passwords, session tokens, and personal data in plain text on screen or in logs.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779440"/>
            <a:ext cx="3924598" cy="1438721"/>
          </a:xfrm>
          <a:prstGeom prst="roundRect">
            <a:avLst>
              <a:gd name="adj" fmla="val 1293"/>
            </a:avLst>
          </a:prstGeom>
          <a:solidFill>
            <a:srgbClr val="EFEEEB"/>
          </a:solidFill>
        </p:spPr>
      </p:sp>
      <p:sp>
        <p:nvSpPr>
          <p:cNvPr id="7" name="Shape 5"/>
          <p:cNvSpPr/>
          <p:nvPr/>
        </p:nvSpPr>
        <p:spPr>
          <a:xfrm>
            <a:off x="489942" y="2779440"/>
            <a:ext cx="3936950" cy="1438721"/>
          </a:xfrm>
          <a:prstGeom prst="roundRect">
            <a:avLst>
              <a:gd name="adj" fmla="val 1293"/>
            </a:avLst>
          </a:prstGeom>
          <a:solidFill>
            <a:srgbClr val="EFEEEB"/>
          </a:solidFill>
        </p:spPr>
      </p:sp>
      <p:sp>
        <p:nvSpPr>
          <p:cNvPr id="8" name="Text 6"/>
          <p:cNvSpPr/>
          <p:nvPr/>
        </p:nvSpPr>
        <p:spPr>
          <a:xfrm>
            <a:off x="644947" y="2903413"/>
            <a:ext cx="3626941" cy="11907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EFEEE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Vulnerable: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EFEEE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print(packet[Raw].load)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EFEEE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Fixed: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EFEEE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packet.haslayer(Raw):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EFEEE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print("Payload hidden for security")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8749" y="1602730"/>
            <a:ext cx="4103191" cy="2754957"/>
          </a:xfrm>
          <a:prstGeom prst="roundRect">
            <a:avLst>
              <a:gd name="adj" fmla="val 675"/>
            </a:avLst>
          </a:prstGeom>
          <a:solidFill>
            <a:srgbClr val="1B5F39"/>
          </a:solidFill>
        </p:spPr>
      </p:sp>
      <p:sp>
        <p:nvSpPr>
          <p:cNvPr id="10" name="Text 8"/>
          <p:cNvSpPr/>
          <p:nvPr/>
        </p:nvSpPr>
        <p:spPr>
          <a:xfrm>
            <a:off x="4762723" y="1726704"/>
            <a:ext cx="2414290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Missing Logging Mechanism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723" y="2044526"/>
            <a:ext cx="3855244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Without an audit trail, it's impossible to detect attacks, debug issues, or demonstrate compliance. A proper logging system records events with timestamps and severity levels.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62723" y="2779440"/>
            <a:ext cx="3855244" cy="1438721"/>
          </a:xfrm>
          <a:prstGeom prst="roundRect">
            <a:avLst>
              <a:gd name="adj" fmla="val 1293"/>
            </a:avLst>
          </a:prstGeom>
          <a:solidFill>
            <a:srgbClr val="286C46"/>
          </a:solidFill>
        </p:spPr>
      </p:sp>
      <p:sp>
        <p:nvSpPr>
          <p:cNvPr id="13" name="Shape 11"/>
          <p:cNvSpPr/>
          <p:nvPr/>
        </p:nvSpPr>
        <p:spPr>
          <a:xfrm>
            <a:off x="4756547" y="2779440"/>
            <a:ext cx="3867596" cy="1438721"/>
          </a:xfrm>
          <a:prstGeom prst="roundRect">
            <a:avLst>
              <a:gd name="adj" fmla="val 1293"/>
            </a:avLst>
          </a:prstGeom>
          <a:solidFill>
            <a:srgbClr val="286C46"/>
          </a:solidFill>
        </p:spPr>
      </p:sp>
      <p:sp>
        <p:nvSpPr>
          <p:cNvPr id="14" name="Text 12"/>
          <p:cNvSpPr/>
          <p:nvPr/>
        </p:nvSpPr>
        <p:spPr>
          <a:xfrm>
            <a:off x="4911551" y="2903413"/>
            <a:ext cx="3557588" cy="11907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highlight>
                  <a:srgbClr val="286C46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logging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highlight>
                  <a:srgbClr val="286C46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logging.basicConfig(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highlight>
                  <a:srgbClr val="286C46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filename='sniffer.log',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highlight>
                  <a:srgbClr val="286C46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level=logging.INFO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highlight>
                  <a:srgbClr val="286C46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chemeClr val="accent1">
                    <a:lumMod val="40000"/>
                    <a:lumOff val="60000"/>
                  </a:schemeClr>
                </a:solidFill>
                <a:highlight>
                  <a:srgbClr val="286C46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logging.info("Packet captured")</a:t>
            </a:r>
            <a:endParaRPr lang="en-US" sz="950" dirty="0">
              <a:solidFill>
                <a:schemeClr val="accent1">
                  <a:lumMod val="40000"/>
                  <a:lumOff val="60000"/>
                </a:schemeClr>
              </a:solidFill>
              <a:highlight>
                <a:srgbClr val="286C46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976235" y="4766310"/>
            <a:ext cx="112776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239241"/>
            <a:ext cx="1498997" cy="1302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Vulnerability #6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285875" y="391864"/>
            <a:ext cx="3104480" cy="2604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Unrestricted Packet Capture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85875" y="736253"/>
            <a:ext cx="6572250" cy="2229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Capturing </a:t>
            </a:r>
            <a:r>
              <a:rPr lang="en-US" sz="65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</a:t>
            </a: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network traffic without filters creates two serious problems: performance degradation from processing unnecessary packets, and expanded exposure to sensitive data that the application doesn't actually need.</a:t>
            </a:r>
            <a:endParaRPr lang="en-US" sz="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1022152"/>
            <a:ext cx="6572250" cy="27200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41410" y="1776995"/>
            <a:ext cx="1062034" cy="1821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Before Capture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41410" y="2010934"/>
            <a:ext cx="1062034" cy="2434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Captures all traffic with no filters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635012" y="1776995"/>
            <a:ext cx="1062033" cy="1821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After Capture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35012" y="2010934"/>
            <a:ext cx="1062033" cy="3651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Applies IP filter and limits to 100 packets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85875" y="3805163"/>
            <a:ext cx="7029450" cy="1114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Applying a BPF filter and packet count limit dramatically reduces the attack surface and resource consumption.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285875" y="4035549"/>
            <a:ext cx="1498997" cy="1302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Before — Risky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285875" y="4228728"/>
            <a:ext cx="3184475" cy="389632"/>
          </a:xfrm>
          <a:prstGeom prst="roundRect">
            <a:avLst>
              <a:gd name="adj" fmla="val 3209"/>
            </a:avLst>
          </a:prstGeom>
          <a:solidFill>
            <a:srgbClr val="EFEEEB"/>
          </a:solidFill>
        </p:spPr>
      </p:sp>
      <p:sp>
        <p:nvSpPr>
          <p:cNvPr id="13" name="Shape 10"/>
          <p:cNvSpPr/>
          <p:nvPr/>
        </p:nvSpPr>
        <p:spPr>
          <a:xfrm>
            <a:off x="1281708" y="4228728"/>
            <a:ext cx="3192810" cy="389632"/>
          </a:xfrm>
          <a:prstGeom prst="roundRect">
            <a:avLst>
              <a:gd name="adj" fmla="val 3209"/>
            </a:avLst>
          </a:prstGeom>
          <a:solidFill>
            <a:srgbClr val="EFEEEB"/>
          </a:solidFill>
        </p:spPr>
      </p:sp>
      <p:sp>
        <p:nvSpPr>
          <p:cNvPr id="14" name="Text 11"/>
          <p:cNvSpPr/>
          <p:nvPr/>
        </p:nvSpPr>
        <p:spPr>
          <a:xfrm>
            <a:off x="1385888" y="4312072"/>
            <a:ext cx="2984450" cy="2229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E36209"/>
                </a:solidFill>
                <a:highlight>
                  <a:srgbClr val="EFEEE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sniff()  # Captures everything</a:t>
            </a:r>
            <a:endParaRPr lang="en-US" sz="6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E36209"/>
                </a:solidFill>
                <a:highlight>
                  <a:srgbClr val="EFEEE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# No limit, no filter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4618434" y="3979590"/>
            <a:ext cx="3304431" cy="924669"/>
          </a:xfrm>
          <a:prstGeom prst="roundRect">
            <a:avLst>
              <a:gd name="adj" fmla="val 1352"/>
            </a:avLst>
          </a:prstGeom>
          <a:solidFill>
            <a:srgbClr val="1B5F39"/>
          </a:solidFill>
        </p:spPr>
      </p:sp>
      <p:sp>
        <p:nvSpPr>
          <p:cNvPr id="16" name="Text 13"/>
          <p:cNvSpPr/>
          <p:nvPr/>
        </p:nvSpPr>
        <p:spPr>
          <a:xfrm>
            <a:off x="4701778" y="4035549"/>
            <a:ext cx="1498997" cy="1302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After — Safe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701778" y="4228728"/>
            <a:ext cx="3137743" cy="612577"/>
          </a:xfrm>
          <a:prstGeom prst="roundRect">
            <a:avLst>
              <a:gd name="adj" fmla="val 2041"/>
            </a:avLst>
          </a:prstGeom>
          <a:solidFill>
            <a:srgbClr val="286C46"/>
          </a:solidFill>
        </p:spPr>
      </p:sp>
      <p:sp>
        <p:nvSpPr>
          <p:cNvPr id="18" name="Shape 15"/>
          <p:cNvSpPr/>
          <p:nvPr/>
        </p:nvSpPr>
        <p:spPr>
          <a:xfrm>
            <a:off x="4697611" y="4228728"/>
            <a:ext cx="3146078" cy="612577"/>
          </a:xfrm>
          <a:prstGeom prst="roundRect">
            <a:avLst>
              <a:gd name="adj" fmla="val 2041"/>
            </a:avLst>
          </a:prstGeom>
          <a:solidFill>
            <a:srgbClr val="286C46"/>
          </a:solidFill>
        </p:spPr>
      </p:sp>
      <p:sp>
        <p:nvSpPr>
          <p:cNvPr id="19" name="Text 16"/>
          <p:cNvSpPr/>
          <p:nvPr/>
        </p:nvSpPr>
        <p:spPr>
          <a:xfrm>
            <a:off x="4801791" y="4312072"/>
            <a:ext cx="2937718" cy="4458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sniff(</a:t>
            </a:r>
            <a:endParaRPr lang="en-US" sz="6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filter="ip", # Only IP traffic</a:t>
            </a:r>
            <a:endParaRPr lang="en-US" sz="6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count=100 # Stop after 100 packets</a:t>
            </a:r>
            <a:endParaRPr lang="en-US" sz="6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650" dirty="0"/>
          </a:p>
        </p:txBody>
      </p:sp>
      <p:sp>
        <p:nvSpPr>
          <p:cNvPr id="20" name="Rectangle 19"/>
          <p:cNvSpPr/>
          <p:nvPr/>
        </p:nvSpPr>
        <p:spPr>
          <a:xfrm>
            <a:off x="7976235" y="4766310"/>
            <a:ext cx="112776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3194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Automated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796603"/>
            <a:ext cx="4894883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Static Analysis Results — Bandit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1370186"/>
            <a:ext cx="815176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Bandit scanned the codebase and flagged three categories of security issues, ranked by severity. These findings guided prioritization of remediation efforts.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1906637"/>
            <a:ext cx="8151763" cy="1451074"/>
          </a:xfrm>
          <a:prstGeom prst="roundRect">
            <a:avLst>
              <a:gd name="adj" fmla="val 128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0881" y="1911400"/>
            <a:ext cx="8142238" cy="356815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624929" y="1990576"/>
            <a:ext cx="3056632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Issue Type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7071" y="1990576"/>
            <a:ext cx="3461370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33952" y="1990576"/>
            <a:ext cx="224239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Severity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0881" y="2268215"/>
            <a:ext cx="8142238" cy="361578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24929" y="2347392"/>
            <a:ext cx="3056632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Sensitive Data Exposure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7071" y="2347392"/>
            <a:ext cx="3461370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Raw packet payloads printed without masking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733952" y="2347392"/>
            <a:ext cx="2242393" cy="2032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🔴</a:t>
            </a:r>
            <a:r>
              <a:rPr lang="en-US" sz="950" dirty="0">
                <a:solidFill>
                  <a:srgbClr val="B03A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High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0881" y="2629793"/>
            <a:ext cx="8142238" cy="361578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624929" y="2708970"/>
            <a:ext cx="3056632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 of Insecure Input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7071" y="2708970"/>
            <a:ext cx="3461370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input passed directly to system functions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33952" y="2708970"/>
            <a:ext cx="2242393" cy="2032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🟡</a:t>
            </a:r>
            <a:r>
              <a:rPr lang="en-US" sz="950" dirty="0">
                <a:solidFill>
                  <a:srgbClr val="B7950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Medium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0881" y="2991371"/>
            <a:ext cx="8142238" cy="361578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624929" y="3070547"/>
            <a:ext cx="3056632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Missing Exception Handling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7071" y="3070547"/>
            <a:ext cx="3461370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try/except around risky operations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33952" y="3070547"/>
            <a:ext cx="2242393" cy="2032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🟢</a:t>
            </a:r>
            <a:r>
              <a:rPr lang="en-US" sz="9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Low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6119" y="3559225"/>
            <a:ext cx="2613868" cy="4093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027733" y="4123581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Issues Found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6119" y="4391844"/>
            <a:ext cx="2613868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Across all severity levels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64991" y="3559225"/>
            <a:ext cx="2613943" cy="4093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3796680" y="4123581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High Severity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64991" y="4391844"/>
            <a:ext cx="261394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Requires immediate attention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33939" y="3559225"/>
            <a:ext cx="2613943" cy="4093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100%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565627" y="4123581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Remediated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33939" y="4391844"/>
            <a:ext cx="261394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 issues addressed in fix plan</a:t>
            </a:r>
            <a:endParaRPr lang="en-US" sz="950" dirty="0"/>
          </a:p>
        </p:txBody>
      </p:sp>
      <p:sp>
        <p:nvSpPr>
          <p:cNvPr id="31" name="Rectangle 30"/>
          <p:cNvSpPr/>
          <p:nvPr/>
        </p:nvSpPr>
        <p:spPr>
          <a:xfrm>
            <a:off x="7976235" y="4766310"/>
            <a:ext cx="112776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6673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Going Forward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96119" y="650081"/>
            <a:ext cx="4933950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Best Practices for Secure Coding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45319"/>
            <a:ext cx="186035" cy="1860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6128" y="1250752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Input Security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06128" y="1519014"/>
            <a:ext cx="4412754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Always validate and sanitize inputs. Use whitelisting — only accept known-good values — rather than trying to filter out bad ones.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185615"/>
            <a:ext cx="186035" cy="1860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6128" y="2191048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Least Privilege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06128" y="2459310"/>
            <a:ext cx="4412754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Never run applications as admin/root unless absolutely necessary. Use containers or sandboxes to isolate privileged operations.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125912"/>
            <a:ext cx="186035" cy="1860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6128" y="3131344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806128" y="3399606"/>
            <a:ext cx="4412754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Wrap all risky operations in </a:t>
            </a:r>
            <a:r>
              <a:rPr lang="en-US" sz="950" dirty="0">
                <a:solidFill>
                  <a:srgbClr val="2C2821"/>
                </a:solidFill>
                <a:highlight>
                  <a:srgbClr val="EFEEEB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try/except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blocks. Log errors internally but show users only generic messages to avoid information leakage.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4066208"/>
            <a:ext cx="186035" cy="18603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06128" y="4071640"/>
            <a:ext cx="185670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Protection &amp; Logging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806128" y="4339903"/>
            <a:ext cx="4412754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Mask sensitive data in output. Maintain structured audit logs. Keep all dependencies updated and avoid untrusted third-party packages.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4075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697483"/>
            <a:ext cx="6074718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Recommendations &amp; Remediation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06822" y="1271067"/>
            <a:ext cx="4103191" cy="3418284"/>
          </a:xfrm>
          <a:prstGeom prst="roundRect">
            <a:avLst>
              <a:gd name="adj" fmla="val 544"/>
            </a:avLst>
          </a:prstGeom>
          <a:solidFill>
            <a:srgbClr val="1B5F39"/>
          </a:solidFill>
        </p:spPr>
      </p:sp>
      <p:sp>
        <p:nvSpPr>
          <p:cNvPr id="5" name="Text 3"/>
          <p:cNvSpPr/>
          <p:nvPr/>
        </p:nvSpPr>
        <p:spPr>
          <a:xfrm>
            <a:off x="530796" y="1395040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Immediate Fixes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1712863"/>
            <a:ext cx="3855244" cy="11658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Add input validation using </a:t>
            </a:r>
            <a:r>
              <a:rPr lang="en-US" sz="950" dirty="0">
                <a:solidFill>
                  <a:srgbClr val="FFFFFF"/>
                </a:solidFill>
                <a:highlight>
                  <a:srgbClr val="286C46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get_if_list()</a:t>
            </a: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whitelist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Wrap all </a:t>
            </a:r>
            <a:r>
              <a:rPr lang="en-US" sz="950" dirty="0">
                <a:solidFill>
                  <a:srgbClr val="FFFFFF"/>
                </a:solidFill>
                <a:highlight>
                  <a:srgbClr val="286C46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sniff()</a:t>
            </a: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calls in </a:t>
            </a:r>
            <a:r>
              <a:rPr lang="en-US" sz="950" dirty="0">
                <a:solidFill>
                  <a:srgbClr val="FFFFFF"/>
                </a:solidFill>
                <a:highlight>
                  <a:srgbClr val="286C46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try/except</a:t>
            </a: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blocks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Apply BPF filters and packet count limits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Mask raw payload output to prevent data exposure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Integrate structured logging with </a:t>
            </a:r>
            <a:r>
              <a:rPr lang="en-US" sz="950" dirty="0">
                <a:solidFill>
                  <a:srgbClr val="FFFFFF"/>
                </a:solidFill>
                <a:highlight>
                  <a:srgbClr val="286C46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logging</a:t>
            </a: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module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1395040"/>
            <a:ext cx="2195140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Advanced Improvements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1712863"/>
            <a:ext cx="3924598" cy="11658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Add a GUI with controlled, role-based access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Encrypt stored log files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Run inside a Docker container for isolation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Schedule regular Bandit scans in CI/CD pipeline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Conduct periodic manual security audits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28046" y="3049191"/>
            <a:ext cx="3924598" cy="9302"/>
          </a:xfrm>
          <a:prstGeom prst="rect">
            <a:avLst/>
          </a:prstGeom>
          <a:solidFill>
            <a:srgbClr val="2C2821">
              <a:alpha val="5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728046" y="3228975"/>
            <a:ext cx="3924598" cy="1320850"/>
          </a:xfrm>
          <a:prstGeom prst="roundRect">
            <a:avLst>
              <a:gd name="adj" fmla="val 1409"/>
            </a:avLst>
          </a:prstGeom>
          <a:solidFill>
            <a:srgbClr val="B6FCB8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020" y="3418284"/>
            <a:ext cx="155004" cy="1239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30998" y="3383905"/>
            <a:ext cx="3397672" cy="992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Conclusion:</a:t>
            </a: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The reviewed sniffer demonstrates basic functionality but lacked essential security controls. Applying input validation, least privilege, exception handling, and proper logging makes it significantly safer and more production-ready.</a:t>
            </a:r>
            <a:endParaRPr lang="en-US" sz="950" dirty="0"/>
          </a:p>
        </p:txBody>
      </p:sp>
      <p:sp>
        <p:nvSpPr>
          <p:cNvPr id="13" name="Rectangle 12"/>
          <p:cNvSpPr/>
          <p:nvPr/>
        </p:nvSpPr>
        <p:spPr>
          <a:xfrm>
            <a:off x="7976235" y="4766310"/>
            <a:ext cx="112776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14:rippl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6059</Words>
  <Application>WPS Presentation</Application>
  <PresentationFormat>On-screen Show (16:9)</PresentationFormat>
  <Paragraphs>228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Alice</vt:lpstr>
      <vt:lpstr>Alice</vt:lpstr>
      <vt:lpstr>Alice</vt:lpstr>
      <vt:lpstr>Lora</vt:lpstr>
      <vt:lpstr>Lora</vt:lpstr>
      <vt:lpstr>Lora</vt:lpstr>
      <vt:lpstr>Consolas</vt:lpstr>
      <vt:lpstr>Consolas</vt:lpstr>
      <vt:lpstr>Consolas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Vignesh</cp:lastModifiedBy>
  <cp:revision>2</cp:revision>
  <dcterms:created xsi:type="dcterms:W3CDTF">2026-06-03T04:58:00Z</dcterms:created>
  <dcterms:modified xsi:type="dcterms:W3CDTF">2026-06-03T05:28:24Z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AFEADAD53FEF4445B55FF056DBA10DCC_12</vt:lpwstr>
  </property>
</Properties>
</file>